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763" y="1154175"/>
            <a:ext cx="804545" cy="120650"/>
          </a:xfrm>
          <a:custGeom>
            <a:avLst/>
            <a:gdLst/>
            <a:ahLst/>
            <a:cxnLst/>
            <a:rect l="l" t="t" r="r" b="b"/>
            <a:pathLst>
              <a:path w="804545" h="120650">
                <a:moveTo>
                  <a:pt x="0" y="120650"/>
                </a:moveTo>
                <a:lnTo>
                  <a:pt x="804188" y="120650"/>
                </a:lnTo>
                <a:lnTo>
                  <a:pt x="804188" y="0"/>
                </a:lnTo>
                <a:lnTo>
                  <a:pt x="0" y="0"/>
                </a:lnTo>
                <a:lnTo>
                  <a:pt x="0" y="120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7764" y="1029335"/>
            <a:ext cx="10520680" cy="9283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4677" y="2114994"/>
            <a:ext cx="11002644" cy="33676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238125" y="152400"/>
            <a:ext cx="11696700" cy="1362075"/>
            <a:chOff x="238125" y="152400"/>
            <a:chExt cx="11696700" cy="13620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125" y="152400"/>
              <a:ext cx="1428750" cy="13525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44175" y="152400"/>
              <a:ext cx="1390650" cy="12001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00" y="152400"/>
              <a:ext cx="8877300" cy="1362075"/>
            </a:xfrm>
            <a:prstGeom prst="rect">
              <a:avLst/>
            </a:prstGeom>
          </p:spPr>
        </p:pic>
      </p:grp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5454" y="2410460"/>
            <a:ext cx="8936990" cy="7581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800" spc="380"/>
              <a:t>PUBLIC</a:t>
            </a:r>
            <a:r>
              <a:rPr dirty="0" sz="4800" spc="-140"/>
              <a:t> </a:t>
            </a:r>
            <a:r>
              <a:rPr dirty="0" sz="4800" spc="395"/>
              <a:t>FACILITY</a:t>
            </a:r>
            <a:r>
              <a:rPr dirty="0" sz="4800" spc="-200"/>
              <a:t> </a:t>
            </a:r>
            <a:r>
              <a:rPr dirty="0" sz="4800" spc="400"/>
              <a:t>FEEDBACK</a:t>
            </a:r>
            <a:endParaRPr sz="4800"/>
          </a:p>
        </p:txBody>
      </p:sp>
      <p:sp>
        <p:nvSpPr>
          <p:cNvPr id="5" name="object 5"/>
          <p:cNvSpPr txBox="1"/>
          <p:nvPr/>
        </p:nvSpPr>
        <p:spPr>
          <a:xfrm>
            <a:off x="4507484" y="3857561"/>
            <a:ext cx="3506470" cy="853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1435">
              <a:lnSpc>
                <a:spcPct val="100000"/>
              </a:lnSpc>
              <a:spcBef>
                <a:spcPts val="100"/>
              </a:spcBef>
            </a:pPr>
            <a:r>
              <a:rPr dirty="0" sz="1800" spc="60">
                <a:latin typeface="Century Gothic"/>
                <a:cs typeface="Century Gothic"/>
              </a:rPr>
              <a:t>APEX</a:t>
            </a:r>
            <a:endParaRPr sz="1800">
              <a:latin typeface="Century Gothic"/>
              <a:cs typeface="Century Gothic"/>
            </a:endParaRPr>
          </a:p>
          <a:p>
            <a:pPr algn="ctr" marR="45720">
              <a:lnSpc>
                <a:spcPct val="100000"/>
              </a:lnSpc>
              <a:spcBef>
                <a:spcPts val="20"/>
              </a:spcBef>
            </a:pPr>
            <a:r>
              <a:rPr dirty="0" sz="1800" spc="-130">
                <a:latin typeface="Century Gothic"/>
                <a:cs typeface="Century Gothic"/>
              </a:rPr>
              <a:t>backend</a:t>
            </a:r>
            <a:r>
              <a:rPr dirty="0" sz="1800" spc="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enigneering</a:t>
            </a:r>
            <a:endParaRPr sz="18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800" spc="-170">
                <a:latin typeface="Century Gothic"/>
                <a:cs typeface="Century Gothic"/>
              </a:rPr>
              <a:t>and</a:t>
            </a:r>
            <a:r>
              <a:rPr dirty="0" sz="1800" spc="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system</a:t>
            </a:r>
            <a:r>
              <a:rPr dirty="0" sz="1800" spc="50">
                <a:latin typeface="Century Gothic"/>
                <a:cs typeface="Century Gothic"/>
              </a:rPr>
              <a:t> </a:t>
            </a:r>
            <a:r>
              <a:rPr dirty="0" sz="1800" spc="-105">
                <a:latin typeface="Century Gothic"/>
                <a:cs typeface="Century Gothic"/>
              </a:rPr>
              <a:t>challenge</a:t>
            </a:r>
            <a:r>
              <a:rPr dirty="0" sz="1800" spc="15">
                <a:latin typeface="Century Gothic"/>
                <a:cs typeface="Century Gothic"/>
              </a:rPr>
              <a:t> </a:t>
            </a:r>
            <a:r>
              <a:rPr dirty="0" sz="1800" spc="-60">
                <a:latin typeface="Century Gothic"/>
                <a:cs typeface="Century Gothic"/>
              </a:rPr>
              <a:t>hackathon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1483" y="4799647"/>
            <a:ext cx="1218565" cy="1101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10160">
              <a:lnSpc>
                <a:spcPts val="1664"/>
              </a:lnSpc>
              <a:spcBef>
                <a:spcPts val="125"/>
              </a:spcBef>
            </a:pPr>
            <a:r>
              <a:rPr dirty="0" sz="1400" spc="-10">
                <a:latin typeface="Century Gothic"/>
                <a:cs typeface="Century Gothic"/>
              </a:rPr>
              <a:t>Presented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 spc="-75">
                <a:latin typeface="Century Gothic"/>
                <a:cs typeface="Century Gothic"/>
              </a:rPr>
              <a:t>by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 spc="-50">
                <a:latin typeface="Century Gothic"/>
                <a:cs typeface="Century Gothic"/>
              </a:rPr>
              <a:t>:</a:t>
            </a:r>
            <a:endParaRPr sz="1400">
              <a:latin typeface="Century Gothic"/>
              <a:cs typeface="Century Gothic"/>
            </a:endParaRPr>
          </a:p>
          <a:p>
            <a:pPr algn="r" marR="5080">
              <a:lnSpc>
                <a:spcPts val="1664"/>
              </a:lnSpc>
            </a:pPr>
            <a:r>
              <a:rPr dirty="0" sz="1400" spc="-10">
                <a:latin typeface="Century Gothic"/>
                <a:cs typeface="Century Gothic"/>
              </a:rPr>
              <a:t>Niharika</a:t>
            </a:r>
            <a:endParaRPr sz="1400">
              <a:latin typeface="Century Gothic"/>
              <a:cs typeface="Century Gothic"/>
            </a:endParaRPr>
          </a:p>
          <a:p>
            <a:pPr algn="r" marL="139700" marR="9525" indent="554355">
              <a:lnSpc>
                <a:spcPct val="100600"/>
              </a:lnSpc>
              <a:spcBef>
                <a:spcPts val="40"/>
              </a:spcBef>
            </a:pPr>
            <a:r>
              <a:rPr dirty="0" sz="1400" spc="-10">
                <a:latin typeface="Century Gothic"/>
                <a:cs typeface="Century Gothic"/>
              </a:rPr>
              <a:t>Hasini Vaishnavi </a:t>
            </a:r>
            <a:r>
              <a:rPr dirty="0" sz="1400" spc="-50">
                <a:latin typeface="Century Gothic"/>
                <a:cs typeface="Century Gothic"/>
              </a:rPr>
              <a:t>Nagalakshmi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1396726" y="5697537"/>
            <a:ext cx="795655" cy="120650"/>
          </a:xfrm>
          <a:custGeom>
            <a:avLst/>
            <a:gdLst/>
            <a:ahLst/>
            <a:cxnLst/>
            <a:rect l="l" t="t" r="r" b="b"/>
            <a:pathLst>
              <a:path w="795654" h="120650">
                <a:moveTo>
                  <a:pt x="795274" y="0"/>
                </a:moveTo>
                <a:lnTo>
                  <a:pt x="0" y="0"/>
                </a:lnTo>
                <a:lnTo>
                  <a:pt x="0" y="120650"/>
                </a:lnTo>
                <a:lnTo>
                  <a:pt x="795274" y="120650"/>
                </a:lnTo>
                <a:lnTo>
                  <a:pt x="7952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45"/>
              </a:spcBef>
            </a:pPr>
            <a:r>
              <a:rPr dirty="0" spc="290"/>
              <a:t>PROBLEM</a:t>
            </a:r>
            <a:r>
              <a:rPr dirty="0" spc="-145"/>
              <a:t> </a:t>
            </a:r>
            <a:r>
              <a:rPr dirty="0" spc="420"/>
              <a:t>STATEMENT</a:t>
            </a:r>
            <a:r>
              <a:rPr dirty="0" spc="-114"/>
              <a:t> </a:t>
            </a:r>
            <a:r>
              <a:rPr dirty="0" spc="180"/>
              <a:t>LACK</a:t>
            </a:r>
            <a:r>
              <a:rPr dirty="0" spc="-125"/>
              <a:t> </a:t>
            </a:r>
            <a:r>
              <a:rPr dirty="0" spc="190"/>
              <a:t>OF</a:t>
            </a:r>
            <a:r>
              <a:rPr dirty="0" spc="-105"/>
              <a:t> </a:t>
            </a:r>
            <a:r>
              <a:rPr dirty="0" spc="280"/>
              <a:t>DIRECT </a:t>
            </a:r>
            <a:r>
              <a:rPr dirty="0" spc="204"/>
              <a:t>REPORTING: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1134" rIns="0" bIns="0" rtlCol="0" vert="horz">
            <a:spAutoFit/>
          </a:bodyPr>
          <a:lstStyle/>
          <a:p>
            <a:pPr marL="375920" marR="5080">
              <a:lnSpc>
                <a:spcPct val="130200"/>
              </a:lnSpc>
              <a:spcBef>
                <a:spcPts val="125"/>
              </a:spcBef>
            </a:pPr>
            <a:r>
              <a:rPr dirty="0"/>
              <a:t>Citizens</a:t>
            </a:r>
            <a:r>
              <a:rPr dirty="0" spc="60"/>
              <a:t> </a:t>
            </a:r>
            <a:r>
              <a:rPr dirty="0" spc="-45"/>
              <a:t>frequently</a:t>
            </a:r>
            <a:r>
              <a:rPr dirty="0" spc="-10"/>
              <a:t> </a:t>
            </a:r>
            <a:r>
              <a:rPr dirty="0" spc="-85"/>
              <a:t>encounter</a:t>
            </a:r>
            <a:r>
              <a:rPr dirty="0" spc="50"/>
              <a:t> </a:t>
            </a:r>
            <a:r>
              <a:rPr dirty="0" spc="-215"/>
              <a:t>damaged</a:t>
            </a:r>
            <a:r>
              <a:rPr dirty="0" spc="-15"/>
              <a:t> </a:t>
            </a:r>
            <a:r>
              <a:rPr dirty="0"/>
              <a:t>or</a:t>
            </a:r>
            <a:r>
              <a:rPr dirty="0" spc="-35"/>
              <a:t> </a:t>
            </a:r>
            <a:r>
              <a:rPr dirty="0" spc="-85"/>
              <a:t>unhygienic</a:t>
            </a:r>
            <a:r>
              <a:rPr dirty="0" spc="-15"/>
              <a:t> </a:t>
            </a:r>
            <a:r>
              <a:rPr dirty="0" spc="-105"/>
              <a:t>public</a:t>
            </a:r>
            <a:r>
              <a:rPr dirty="0" spc="-15"/>
              <a:t> </a:t>
            </a:r>
            <a:r>
              <a:rPr dirty="0" spc="-45"/>
              <a:t>amenities</a:t>
            </a:r>
            <a:r>
              <a:rPr dirty="0" spc="-15"/>
              <a:t> </a:t>
            </a:r>
            <a:r>
              <a:rPr dirty="0"/>
              <a:t>(parks,</a:t>
            </a:r>
            <a:r>
              <a:rPr dirty="0" spc="5"/>
              <a:t> </a:t>
            </a:r>
            <a:r>
              <a:rPr dirty="0" spc="-10"/>
              <a:t>libraries, </a:t>
            </a:r>
            <a:r>
              <a:rPr dirty="0"/>
              <a:t>restrooms,</a:t>
            </a:r>
            <a:r>
              <a:rPr dirty="0" spc="20"/>
              <a:t> </a:t>
            </a:r>
            <a:r>
              <a:rPr dirty="0"/>
              <a:t>transit</a:t>
            </a:r>
            <a:r>
              <a:rPr dirty="0" spc="-25"/>
              <a:t> </a:t>
            </a:r>
            <a:r>
              <a:rPr dirty="0"/>
              <a:t>stops)</a:t>
            </a:r>
            <a:r>
              <a:rPr dirty="0" spc="75"/>
              <a:t> </a:t>
            </a:r>
            <a:r>
              <a:rPr dirty="0" spc="-20"/>
              <a:t>with</a:t>
            </a:r>
            <a:r>
              <a:rPr dirty="0" spc="-30"/>
              <a:t> </a:t>
            </a:r>
            <a:r>
              <a:rPr dirty="0" spc="-114"/>
              <a:t>no</a:t>
            </a:r>
            <a:r>
              <a:rPr dirty="0" spc="10"/>
              <a:t> </a:t>
            </a:r>
            <a:r>
              <a:rPr dirty="0" spc="-65"/>
              <a:t>quick</a:t>
            </a:r>
            <a:r>
              <a:rPr dirty="0" spc="-45"/>
              <a:t> </a:t>
            </a:r>
            <a:r>
              <a:rPr dirty="0" spc="-65"/>
              <a:t>digital</a:t>
            </a:r>
            <a:r>
              <a:rPr dirty="0"/>
              <a:t> </a:t>
            </a:r>
            <a:r>
              <a:rPr dirty="0" spc="-95"/>
              <a:t>mechanism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 spc="-10"/>
              <a:t>report</a:t>
            </a:r>
            <a:r>
              <a:rPr dirty="0" spc="45"/>
              <a:t> </a:t>
            </a:r>
            <a:r>
              <a:rPr dirty="0" spc="-10"/>
              <a:t>them.Delayed </a:t>
            </a:r>
            <a:r>
              <a:rPr dirty="0" spc="-125"/>
              <a:t>Maintenance:</a:t>
            </a:r>
            <a:r>
              <a:rPr dirty="0" spc="-15"/>
              <a:t> </a:t>
            </a:r>
            <a:r>
              <a:rPr dirty="0" spc="-90"/>
              <a:t>Municipal</a:t>
            </a:r>
            <a:r>
              <a:rPr dirty="0" spc="-25"/>
              <a:t> </a:t>
            </a:r>
            <a:r>
              <a:rPr dirty="0" spc="-10"/>
              <a:t>authorities</a:t>
            </a:r>
            <a:r>
              <a:rPr dirty="0" spc="-20"/>
              <a:t> </a:t>
            </a:r>
            <a:r>
              <a:rPr dirty="0" spc="-60"/>
              <a:t>lack</a:t>
            </a:r>
            <a:r>
              <a:rPr dirty="0" spc="10"/>
              <a:t> </a:t>
            </a:r>
            <a:r>
              <a:rPr dirty="0" spc="-25"/>
              <a:t>real-</a:t>
            </a:r>
            <a:r>
              <a:rPr dirty="0" spc="-65"/>
              <a:t>time</a:t>
            </a:r>
            <a:r>
              <a:rPr dirty="0" spc="-60"/>
              <a:t> </a:t>
            </a:r>
            <a:r>
              <a:rPr dirty="0"/>
              <a:t>visibility</a:t>
            </a:r>
            <a:r>
              <a:rPr dirty="0" spc="-15"/>
              <a:t> </a:t>
            </a:r>
            <a:r>
              <a:rPr dirty="0" spc="-30"/>
              <a:t>into</a:t>
            </a:r>
            <a:r>
              <a:rPr dirty="0" spc="-20"/>
              <a:t> </a:t>
            </a:r>
            <a:r>
              <a:rPr dirty="0" spc="-90"/>
              <a:t>local</a:t>
            </a:r>
            <a:r>
              <a:rPr dirty="0" spc="-25"/>
              <a:t> </a:t>
            </a:r>
            <a:r>
              <a:rPr dirty="0" spc="-10"/>
              <a:t>infrastructure </a:t>
            </a:r>
            <a:r>
              <a:rPr dirty="0" spc="-50"/>
              <a:t>conditions,</a:t>
            </a:r>
            <a:r>
              <a:rPr dirty="0" spc="-60"/>
              <a:t> </a:t>
            </a:r>
            <a:r>
              <a:rPr dirty="0" spc="-10"/>
              <a:t>slowing</a:t>
            </a:r>
            <a:r>
              <a:rPr dirty="0" spc="-60"/>
              <a:t> </a:t>
            </a:r>
            <a:r>
              <a:rPr dirty="0" spc="-150"/>
              <a:t>down</a:t>
            </a:r>
            <a:r>
              <a:rPr dirty="0" spc="-65"/>
              <a:t> </a:t>
            </a:r>
            <a:r>
              <a:rPr dirty="0" spc="70"/>
              <a:t>issue</a:t>
            </a:r>
            <a:r>
              <a:rPr dirty="0" spc="-30"/>
              <a:t> </a:t>
            </a:r>
            <a:r>
              <a:rPr dirty="0" spc="-45"/>
              <a:t>resolution.Absence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85"/>
              <a:t> </a:t>
            </a:r>
            <a:r>
              <a:rPr dirty="0" spc="-80"/>
              <a:t>Accountability:</a:t>
            </a:r>
            <a:r>
              <a:rPr dirty="0" spc="-55"/>
              <a:t> </a:t>
            </a:r>
            <a:r>
              <a:rPr dirty="0"/>
              <a:t>Facility</a:t>
            </a:r>
            <a:r>
              <a:rPr dirty="0" spc="-55"/>
              <a:t> </a:t>
            </a:r>
            <a:r>
              <a:rPr dirty="0" spc="-45"/>
              <a:t>tracking</a:t>
            </a:r>
            <a:r>
              <a:rPr dirty="0" spc="-55"/>
              <a:t> </a:t>
            </a:r>
            <a:r>
              <a:rPr dirty="0" spc="-25"/>
              <a:t>and </a:t>
            </a:r>
            <a:r>
              <a:rPr dirty="0" spc="-20"/>
              <a:t>citizen</a:t>
            </a:r>
            <a:r>
              <a:rPr dirty="0" spc="-30"/>
              <a:t> </a:t>
            </a:r>
            <a:r>
              <a:rPr dirty="0" spc="-120"/>
              <a:t>feedback</a:t>
            </a:r>
            <a:r>
              <a:rPr dirty="0" spc="35"/>
              <a:t> </a:t>
            </a:r>
            <a:r>
              <a:rPr dirty="0" spc="-85"/>
              <a:t>remain</a:t>
            </a:r>
            <a:r>
              <a:rPr dirty="0" spc="-25"/>
              <a:t> </a:t>
            </a:r>
            <a:r>
              <a:rPr dirty="0" spc="-95"/>
              <a:t>paper-</a:t>
            </a:r>
            <a:r>
              <a:rPr dirty="0" spc="-105"/>
              <a:t>based,</a:t>
            </a:r>
            <a:r>
              <a:rPr dirty="0" spc="25"/>
              <a:t> </a:t>
            </a:r>
            <a:r>
              <a:rPr dirty="0" spc="-105"/>
              <a:t>fragmented,</a:t>
            </a:r>
            <a:r>
              <a:rPr dirty="0" spc="20"/>
              <a:t> </a:t>
            </a:r>
            <a:r>
              <a:rPr dirty="0"/>
              <a:t>or</a:t>
            </a:r>
            <a:r>
              <a:rPr dirty="0" spc="-10"/>
              <a:t> </a:t>
            </a:r>
            <a:r>
              <a:rPr dirty="0" spc="-20"/>
              <a:t>entirely</a:t>
            </a:r>
            <a:r>
              <a:rPr dirty="0" spc="5"/>
              <a:t> </a:t>
            </a:r>
            <a:r>
              <a:rPr dirty="0" spc="-80"/>
              <a:t>untracked</a:t>
            </a:r>
            <a:r>
              <a:rPr dirty="0"/>
              <a:t> across</a:t>
            </a:r>
            <a:r>
              <a:rPr dirty="0" spc="5"/>
              <a:t> </a:t>
            </a:r>
            <a:r>
              <a:rPr dirty="0" spc="-30"/>
              <a:t>municipal </a:t>
            </a:r>
            <a:r>
              <a:rPr dirty="0" spc="-10"/>
              <a:t>departments.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45"/>
              </a:spcBef>
            </a:pPr>
            <a:r>
              <a:rPr dirty="0" spc="265"/>
              <a:t>PROPOSED</a:t>
            </a:r>
            <a:r>
              <a:rPr dirty="0" spc="-145"/>
              <a:t> </a:t>
            </a:r>
            <a:r>
              <a:rPr dirty="0" spc="275"/>
              <a:t>SOLUTIONCENTRALIZED</a:t>
            </a:r>
            <a:r>
              <a:rPr dirty="0" spc="-150"/>
              <a:t> </a:t>
            </a:r>
            <a:r>
              <a:rPr dirty="0" spc="365"/>
              <a:t>WEB </a:t>
            </a:r>
            <a:r>
              <a:rPr dirty="0" spc="245"/>
              <a:t>PLATFORM: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987" y="2569908"/>
            <a:ext cx="10621645" cy="24104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125"/>
              </a:spcBef>
            </a:pP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unified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single-</a:t>
            </a:r>
            <a:r>
              <a:rPr dirty="0" sz="2000" spc="-180">
                <a:latin typeface="Century Gothic"/>
                <a:cs typeface="Century Gothic"/>
              </a:rPr>
              <a:t>page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0">
                <a:latin typeface="Century Gothic"/>
                <a:cs typeface="Century Gothic"/>
              </a:rPr>
              <a:t>application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10">
                <a:latin typeface="Century Gothic"/>
                <a:cs typeface="Century Gothic"/>
              </a:rPr>
              <a:t>connecting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citizens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directly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local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facility </a:t>
            </a:r>
            <a:r>
              <a:rPr dirty="0" sz="2000" spc="-60">
                <a:latin typeface="Century Gothic"/>
                <a:cs typeface="Century Gothic"/>
              </a:rPr>
              <a:t>records.Community-</a:t>
            </a:r>
            <a:r>
              <a:rPr dirty="0" sz="2000" spc="-30">
                <a:latin typeface="Century Gothic"/>
                <a:cs typeface="Century Gothic"/>
              </a:rPr>
              <a:t>Driven</a:t>
            </a:r>
            <a:r>
              <a:rPr dirty="0" sz="2000" spc="-11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Transparency: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Publicly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visible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ratings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6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85">
                <a:latin typeface="Century Gothic"/>
                <a:cs typeface="Century Gothic"/>
              </a:rPr>
              <a:t>comments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65">
                <a:latin typeface="Century Gothic"/>
                <a:cs typeface="Century Gothic"/>
              </a:rPr>
              <a:t>that</a:t>
            </a:r>
            <a:r>
              <a:rPr dirty="0" sz="2000" spc="-20">
                <a:latin typeface="Century Gothic"/>
                <a:cs typeface="Century Gothic"/>
              </a:rPr>
              <a:t> keep </a:t>
            </a:r>
            <a:r>
              <a:rPr dirty="0" sz="2000" spc="-100">
                <a:latin typeface="Century Gothic"/>
                <a:cs typeface="Century Gothic"/>
              </a:rPr>
              <a:t>municipal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infrastructure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0">
                <a:latin typeface="Century Gothic"/>
                <a:cs typeface="Century Gothic"/>
              </a:rPr>
              <a:t>accountable.Role-</a:t>
            </a:r>
            <a:r>
              <a:rPr dirty="0" sz="2000">
                <a:latin typeface="Century Gothic"/>
                <a:cs typeface="Century Gothic"/>
              </a:rPr>
              <a:t>Based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Access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Control: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Dual-</a:t>
            </a:r>
            <a:r>
              <a:rPr dirty="0" sz="2000" spc="-55">
                <a:latin typeface="Century Gothic"/>
                <a:cs typeface="Century Gothic"/>
              </a:rPr>
              <a:t>interface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model </a:t>
            </a:r>
            <a:r>
              <a:rPr dirty="0" sz="2000" spc="-80">
                <a:latin typeface="Century Gothic"/>
                <a:cs typeface="Century Gothic"/>
              </a:rPr>
              <a:t>allowing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citizens</a:t>
            </a:r>
            <a:r>
              <a:rPr dirty="0" sz="2000" spc="-10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browse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80">
                <a:latin typeface="Century Gothic"/>
                <a:cs typeface="Century Gothic"/>
              </a:rPr>
              <a:t>review,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while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5">
                <a:latin typeface="Century Gothic"/>
                <a:cs typeface="Century Gothic"/>
              </a:rPr>
              <a:t>municipal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administrators</a:t>
            </a:r>
            <a:r>
              <a:rPr dirty="0" sz="2000" spc="20">
                <a:latin typeface="Century Gothic"/>
                <a:cs typeface="Century Gothic"/>
              </a:rPr>
              <a:t> </a:t>
            </a:r>
            <a:r>
              <a:rPr dirty="0" sz="2000" spc="-195">
                <a:latin typeface="Century Gothic"/>
                <a:cs typeface="Century Gothic"/>
              </a:rPr>
              <a:t>manage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45">
                <a:latin typeface="Century Gothic"/>
                <a:cs typeface="Century Gothic"/>
              </a:rPr>
              <a:t>update </a:t>
            </a:r>
            <a:r>
              <a:rPr dirty="0" sz="2000" spc="-10">
                <a:latin typeface="Century Gothic"/>
                <a:cs typeface="Century Gothic"/>
              </a:rPr>
              <a:t>facilities.Instant</a:t>
            </a:r>
            <a:r>
              <a:rPr dirty="0" sz="2000" spc="-120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Record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Synchronization: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Real-</a:t>
            </a:r>
            <a:r>
              <a:rPr dirty="0" sz="2000" spc="-65">
                <a:latin typeface="Century Gothic"/>
                <a:cs typeface="Century Gothic"/>
              </a:rPr>
              <a:t>time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persistence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retrieval</a:t>
            </a:r>
            <a:r>
              <a:rPr dirty="0" sz="2000">
                <a:latin typeface="Century Gothic"/>
                <a:cs typeface="Century Gothic"/>
              </a:rPr>
              <a:t> </a:t>
            </a:r>
            <a:r>
              <a:rPr dirty="0" sz="2000" spc="-125">
                <a:latin typeface="Century Gothic"/>
                <a:cs typeface="Century Gothic"/>
              </a:rPr>
              <a:t>powered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by </a:t>
            </a:r>
            <a:r>
              <a:rPr dirty="0" sz="2000" spc="-170">
                <a:latin typeface="Century Gothic"/>
                <a:cs typeface="Century Gothic"/>
              </a:rPr>
              <a:t>an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asynchronous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300">
                <a:latin typeface="Century Gothic"/>
                <a:cs typeface="Century Gothic"/>
              </a:rPr>
              <a:t>REST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API.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45"/>
              </a:spcBef>
            </a:pPr>
            <a:r>
              <a:rPr dirty="0" spc="425"/>
              <a:t>SYSTEM</a:t>
            </a:r>
            <a:r>
              <a:rPr dirty="0" spc="-140"/>
              <a:t> </a:t>
            </a:r>
            <a:r>
              <a:rPr dirty="0" spc="300"/>
              <a:t>ARCHITECTURE</a:t>
            </a:r>
            <a:r>
              <a:rPr dirty="0" spc="-125"/>
              <a:t> </a:t>
            </a:r>
            <a:r>
              <a:rPr dirty="0" spc="150"/>
              <a:t>&amp;</a:t>
            </a:r>
            <a:r>
              <a:rPr dirty="0" spc="-155"/>
              <a:t> </a:t>
            </a:r>
            <a:r>
              <a:rPr dirty="0" spc="204"/>
              <a:t>DATA</a:t>
            </a:r>
            <a:r>
              <a:rPr dirty="0" spc="-90"/>
              <a:t> </a:t>
            </a:r>
            <a:r>
              <a:rPr dirty="0" spc="275"/>
              <a:t>FLOWFRONTEND </a:t>
            </a:r>
            <a:r>
              <a:rPr dirty="0" spc="330"/>
              <a:t>LAYER</a:t>
            </a:r>
            <a:r>
              <a:rPr dirty="0" spc="-120"/>
              <a:t> </a:t>
            </a:r>
            <a:r>
              <a:rPr dirty="0" spc="160"/>
              <a:t>(CLIENT):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83769" rIns="0" bIns="0" rtlCol="0" vert="horz">
            <a:spAutoFit/>
          </a:bodyPr>
          <a:lstStyle/>
          <a:p>
            <a:pPr marL="333375" marR="5080">
              <a:lnSpc>
                <a:spcPct val="130200"/>
              </a:lnSpc>
              <a:spcBef>
                <a:spcPts val="125"/>
              </a:spcBef>
            </a:pPr>
            <a:r>
              <a:rPr dirty="0" spc="-20"/>
              <a:t>React.js</a:t>
            </a:r>
            <a:r>
              <a:rPr dirty="0" spc="-10"/>
              <a:t> </a:t>
            </a:r>
            <a:r>
              <a:rPr dirty="0" spc="-35"/>
              <a:t>(Vite)</a:t>
            </a:r>
            <a:r>
              <a:rPr dirty="0" spc="-10"/>
              <a:t> </a:t>
            </a:r>
            <a:r>
              <a:rPr dirty="0" spc="-55"/>
              <a:t>running</a:t>
            </a:r>
            <a:r>
              <a:rPr dirty="0" spc="-5"/>
              <a:t> </a:t>
            </a:r>
            <a:r>
              <a:rPr dirty="0" spc="-240"/>
              <a:t>a</a:t>
            </a:r>
            <a:r>
              <a:rPr dirty="0" spc="-15"/>
              <a:t> </a:t>
            </a:r>
            <a:r>
              <a:rPr dirty="0" spc="-80"/>
              <a:t>reactive</a:t>
            </a:r>
            <a:r>
              <a:rPr dirty="0" spc="30"/>
              <a:t> </a:t>
            </a:r>
            <a:r>
              <a:rPr dirty="0"/>
              <a:t>UI,</a:t>
            </a:r>
            <a:r>
              <a:rPr dirty="0" spc="5"/>
              <a:t> </a:t>
            </a:r>
            <a:r>
              <a:rPr dirty="0" spc="-160"/>
              <a:t>managing</a:t>
            </a:r>
            <a:r>
              <a:rPr dirty="0" spc="-5"/>
              <a:t> </a:t>
            </a:r>
            <a:r>
              <a:rPr dirty="0" spc="-50"/>
              <a:t>client</a:t>
            </a:r>
            <a:r>
              <a:rPr dirty="0" spc="-40"/>
              <a:t> </a:t>
            </a:r>
            <a:r>
              <a:rPr dirty="0"/>
              <a:t>states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45"/>
              <a:t> </a:t>
            </a:r>
            <a:r>
              <a:rPr dirty="0" spc="-80"/>
              <a:t>React</a:t>
            </a:r>
            <a:r>
              <a:rPr dirty="0" spc="-40"/>
              <a:t> </a:t>
            </a:r>
            <a:r>
              <a:rPr dirty="0"/>
              <a:t>Hooks</a:t>
            </a:r>
            <a:r>
              <a:rPr dirty="0" spc="-10"/>
              <a:t> (useState, </a:t>
            </a:r>
            <a:r>
              <a:rPr dirty="0"/>
              <a:t>useEffect),</a:t>
            </a:r>
            <a:r>
              <a:rPr dirty="0" spc="-110"/>
              <a:t> </a:t>
            </a:r>
            <a:r>
              <a:rPr dirty="0" spc="-185"/>
              <a:t>and</a:t>
            </a:r>
            <a:r>
              <a:rPr dirty="0" spc="-40"/>
              <a:t> </a:t>
            </a:r>
            <a:r>
              <a:rPr dirty="0" spc="-100"/>
              <a:t>making</a:t>
            </a:r>
            <a:r>
              <a:rPr dirty="0" spc="-40"/>
              <a:t> </a:t>
            </a:r>
            <a:r>
              <a:rPr dirty="0" spc="-30"/>
              <a:t>asynchronous</a:t>
            </a:r>
            <a:r>
              <a:rPr dirty="0" spc="-60"/>
              <a:t> </a:t>
            </a:r>
            <a:r>
              <a:rPr dirty="0" spc="285"/>
              <a:t>HTTP</a:t>
            </a:r>
            <a:r>
              <a:rPr dirty="0" spc="-85"/>
              <a:t> </a:t>
            </a:r>
            <a:r>
              <a:rPr dirty="0"/>
              <a:t>calls</a:t>
            </a:r>
            <a:r>
              <a:rPr dirty="0" spc="-60"/>
              <a:t> </a:t>
            </a:r>
            <a:r>
              <a:rPr dirty="0" spc="-110"/>
              <a:t>via</a:t>
            </a:r>
            <a:r>
              <a:rPr dirty="0" spc="-45"/>
              <a:t> </a:t>
            </a:r>
            <a:r>
              <a:rPr dirty="0" spc="-70"/>
              <a:t>the</a:t>
            </a:r>
            <a:r>
              <a:rPr dirty="0" spc="-75"/>
              <a:t> </a:t>
            </a:r>
            <a:r>
              <a:rPr dirty="0"/>
              <a:t>Fetch</a:t>
            </a:r>
            <a:r>
              <a:rPr dirty="0" spc="-45"/>
              <a:t> </a:t>
            </a:r>
            <a:r>
              <a:rPr dirty="0" spc="-55"/>
              <a:t>API.Backend</a:t>
            </a:r>
            <a:r>
              <a:rPr dirty="0" spc="-15"/>
              <a:t> </a:t>
            </a:r>
            <a:r>
              <a:rPr dirty="0"/>
              <a:t>Layer</a:t>
            </a:r>
            <a:r>
              <a:rPr dirty="0" spc="-70"/>
              <a:t> </a:t>
            </a:r>
            <a:r>
              <a:rPr dirty="0" spc="-20"/>
              <a:t>(API </a:t>
            </a:r>
            <a:r>
              <a:rPr dirty="0" spc="-45"/>
              <a:t>Engine):</a:t>
            </a:r>
            <a:r>
              <a:rPr dirty="0" spc="-65"/>
              <a:t> </a:t>
            </a:r>
            <a:r>
              <a:rPr dirty="0" spc="-30"/>
              <a:t>Node.js</a:t>
            </a:r>
            <a:r>
              <a:rPr dirty="0" spc="-45"/>
              <a:t> </a:t>
            </a:r>
            <a:r>
              <a:rPr dirty="0" spc="-185"/>
              <a:t>and</a:t>
            </a:r>
            <a:r>
              <a:rPr dirty="0" spc="-40"/>
              <a:t> </a:t>
            </a:r>
            <a:r>
              <a:rPr dirty="0" spc="95"/>
              <a:t>Express.js</a:t>
            </a:r>
            <a:r>
              <a:rPr dirty="0" spc="-50"/>
              <a:t> </a:t>
            </a:r>
            <a:r>
              <a:rPr dirty="0" spc="-100"/>
              <a:t>handling</a:t>
            </a:r>
            <a:r>
              <a:rPr dirty="0" spc="-40"/>
              <a:t> </a:t>
            </a:r>
            <a:r>
              <a:rPr dirty="0" spc="300"/>
              <a:t>REST</a:t>
            </a:r>
            <a:r>
              <a:rPr dirty="0" spc="-15"/>
              <a:t> </a:t>
            </a:r>
            <a:r>
              <a:rPr dirty="0" spc="-45"/>
              <a:t>routing,</a:t>
            </a:r>
            <a:r>
              <a:rPr dirty="0" spc="-30"/>
              <a:t> </a:t>
            </a:r>
            <a:r>
              <a:rPr dirty="0" spc="-155"/>
              <a:t>payload</a:t>
            </a:r>
            <a:r>
              <a:rPr dirty="0" spc="-40"/>
              <a:t> </a:t>
            </a:r>
            <a:r>
              <a:rPr dirty="0" spc="-35"/>
              <a:t>parsing,</a:t>
            </a:r>
            <a:r>
              <a:rPr dirty="0" spc="-30"/>
              <a:t> </a:t>
            </a:r>
            <a:r>
              <a:rPr dirty="0" spc="60"/>
              <a:t>CORS </a:t>
            </a:r>
            <a:r>
              <a:rPr dirty="0" spc="-155"/>
              <a:t>management,</a:t>
            </a:r>
            <a:r>
              <a:rPr dirty="0" spc="25"/>
              <a:t> </a:t>
            </a:r>
            <a:r>
              <a:rPr dirty="0" spc="-185"/>
              <a:t>and</a:t>
            </a:r>
            <a:r>
              <a:rPr dirty="0" spc="5"/>
              <a:t> </a:t>
            </a:r>
            <a:r>
              <a:rPr dirty="0" spc="-40"/>
              <a:t>custom</a:t>
            </a:r>
            <a:r>
              <a:rPr dirty="0" spc="5"/>
              <a:t> </a:t>
            </a:r>
            <a:r>
              <a:rPr dirty="0" spc="-95"/>
              <a:t>authentication</a:t>
            </a:r>
            <a:r>
              <a:rPr dirty="0" spc="25"/>
              <a:t> </a:t>
            </a:r>
            <a:r>
              <a:rPr dirty="0" spc="-110"/>
              <a:t>middleware.Data</a:t>
            </a:r>
            <a:r>
              <a:rPr dirty="0" spc="-5"/>
              <a:t> </a:t>
            </a:r>
            <a:r>
              <a:rPr dirty="0"/>
              <a:t>Persistence</a:t>
            </a:r>
            <a:r>
              <a:rPr dirty="0" spc="-35"/>
              <a:t> </a:t>
            </a:r>
            <a:r>
              <a:rPr dirty="0" spc="-20"/>
              <a:t>Layer:</a:t>
            </a:r>
            <a:r>
              <a:rPr dirty="0" spc="15"/>
              <a:t> </a:t>
            </a:r>
            <a:r>
              <a:rPr dirty="0" spc="-10"/>
              <a:t>MongoDB </a:t>
            </a:r>
            <a:r>
              <a:rPr dirty="0" spc="-125"/>
              <a:t>database</a:t>
            </a:r>
            <a:r>
              <a:rPr dirty="0" spc="5"/>
              <a:t> </a:t>
            </a:r>
            <a:r>
              <a:rPr dirty="0" spc="-190"/>
              <a:t>managed</a:t>
            </a:r>
            <a:r>
              <a:rPr dirty="0" spc="-30"/>
              <a:t> </a:t>
            </a:r>
            <a:r>
              <a:rPr dirty="0" spc="-60"/>
              <a:t>through</a:t>
            </a:r>
            <a:r>
              <a:rPr dirty="0" spc="-55"/>
              <a:t> </a:t>
            </a:r>
            <a:r>
              <a:rPr dirty="0" spc="-75"/>
              <a:t>Mongoose</a:t>
            </a:r>
            <a:r>
              <a:rPr dirty="0" spc="5"/>
              <a:t> </a:t>
            </a:r>
            <a:r>
              <a:rPr dirty="0" spc="-105"/>
              <a:t>Object</a:t>
            </a:r>
            <a:r>
              <a:rPr dirty="0" spc="-60"/>
              <a:t> </a:t>
            </a:r>
            <a:r>
              <a:rPr dirty="0" spc="-120"/>
              <a:t>Data</a:t>
            </a:r>
            <a:r>
              <a:rPr dirty="0" spc="30"/>
              <a:t> </a:t>
            </a:r>
            <a:r>
              <a:rPr dirty="0" spc="-90"/>
              <a:t>Modeling</a:t>
            </a:r>
            <a:r>
              <a:rPr dirty="0" spc="-55"/>
              <a:t> </a:t>
            </a:r>
            <a:r>
              <a:rPr dirty="0" spc="-65"/>
              <a:t>(ODM)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 spc="-120"/>
              <a:t>guarantee</a:t>
            </a:r>
            <a:r>
              <a:rPr dirty="0" spc="10"/>
              <a:t> </a:t>
            </a:r>
            <a:r>
              <a:rPr dirty="0" spc="-20"/>
              <a:t>data </a:t>
            </a:r>
            <a:r>
              <a:rPr dirty="0" spc="-30"/>
              <a:t>integrity.End-</a:t>
            </a:r>
            <a:r>
              <a:rPr dirty="0" spc="-20"/>
              <a:t>to-</a:t>
            </a:r>
            <a:r>
              <a:rPr dirty="0"/>
              <a:t>End</a:t>
            </a:r>
            <a:r>
              <a:rPr dirty="0" spc="-25"/>
              <a:t> </a:t>
            </a:r>
            <a:r>
              <a:rPr dirty="0" spc="-125"/>
              <a:t>Data</a:t>
            </a:r>
            <a:r>
              <a:rPr dirty="0" spc="-25"/>
              <a:t> </a:t>
            </a:r>
            <a:r>
              <a:rPr dirty="0"/>
              <a:t>Flow:</a:t>
            </a:r>
            <a:r>
              <a:rPr dirty="0" spc="60"/>
              <a:t> </a:t>
            </a:r>
            <a:r>
              <a:rPr dirty="0" spc="-30"/>
              <a:t>Client</a:t>
            </a:r>
            <a:r>
              <a:rPr dirty="0" spc="25"/>
              <a:t> </a:t>
            </a:r>
            <a:r>
              <a:rPr dirty="0" spc="-60"/>
              <a:t>Interface</a:t>
            </a:r>
            <a:r>
              <a:rPr dirty="0" spc="-55"/>
              <a:t> </a:t>
            </a:r>
            <a:r>
              <a:rPr dirty="0" spc="-20"/>
              <a:t>$\leftrightarrow$</a:t>
            </a:r>
            <a:r>
              <a:rPr dirty="0" spc="-40"/>
              <a:t> </a:t>
            </a:r>
            <a:r>
              <a:rPr dirty="0" spc="315"/>
              <a:t>REST</a:t>
            </a:r>
            <a:r>
              <a:rPr dirty="0" spc="-70"/>
              <a:t> </a:t>
            </a:r>
            <a:r>
              <a:rPr dirty="0" spc="-10"/>
              <a:t>Endpoints</a:t>
            </a:r>
            <a:r>
              <a:rPr dirty="0" spc="-25"/>
              <a:t> </a:t>
            </a:r>
            <a:r>
              <a:rPr dirty="0" spc="-10"/>
              <a:t>(JSON)</a:t>
            </a:r>
          </a:p>
          <a:p>
            <a:pPr marL="333375">
              <a:lnSpc>
                <a:spcPct val="100000"/>
              </a:lnSpc>
              <a:spcBef>
                <a:spcPts val="750"/>
              </a:spcBef>
            </a:pPr>
            <a:r>
              <a:rPr dirty="0" spc="-20"/>
              <a:t>$\leftrightarrow$</a:t>
            </a:r>
            <a:r>
              <a:rPr dirty="0" spc="-35"/>
              <a:t> </a:t>
            </a:r>
            <a:r>
              <a:rPr dirty="0" spc="110"/>
              <a:t>Express</a:t>
            </a:r>
            <a:r>
              <a:rPr dirty="0" spc="-20"/>
              <a:t> </a:t>
            </a:r>
            <a:r>
              <a:rPr dirty="0" spc="-85"/>
              <a:t>Middleware</a:t>
            </a:r>
            <a:r>
              <a:rPr dirty="0" spc="-50"/>
              <a:t> </a:t>
            </a:r>
            <a:r>
              <a:rPr dirty="0" spc="-20"/>
              <a:t>$\leftrightarrow$</a:t>
            </a:r>
            <a:r>
              <a:rPr dirty="0" spc="-30"/>
              <a:t> </a:t>
            </a:r>
            <a:r>
              <a:rPr dirty="0" spc="-40"/>
              <a:t>MongoDB</a:t>
            </a:r>
            <a:r>
              <a:rPr dirty="0" spc="15"/>
              <a:t> </a:t>
            </a:r>
            <a:r>
              <a:rPr dirty="0" spc="-10"/>
              <a:t>Collections.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45"/>
              </a:spcBef>
            </a:pPr>
            <a:r>
              <a:rPr dirty="0" spc="170"/>
              <a:t>TECHNOLOGY</a:t>
            </a:r>
            <a:r>
              <a:rPr dirty="0" spc="-150"/>
              <a:t> </a:t>
            </a:r>
            <a:r>
              <a:rPr dirty="0" spc="315"/>
              <a:t>STACK</a:t>
            </a:r>
            <a:r>
              <a:rPr dirty="0" spc="-180"/>
              <a:t> </a:t>
            </a:r>
            <a:r>
              <a:rPr dirty="0" spc="150"/>
              <a:t>&amp;</a:t>
            </a:r>
            <a:r>
              <a:rPr dirty="0" spc="-140"/>
              <a:t> </a:t>
            </a:r>
            <a:r>
              <a:rPr dirty="0" spc="245"/>
              <a:t>MODULES</a:t>
            </a:r>
            <a:r>
              <a:rPr dirty="0" spc="-114"/>
              <a:t> </a:t>
            </a:r>
            <a:r>
              <a:rPr dirty="0" spc="300"/>
              <a:t>USEDREACT.JS </a:t>
            </a:r>
            <a:r>
              <a:rPr dirty="0" spc="150"/>
              <a:t>&amp;</a:t>
            </a:r>
            <a:r>
              <a:rPr dirty="0" spc="-160"/>
              <a:t> </a:t>
            </a:r>
            <a:r>
              <a:rPr dirty="0" spc="235"/>
              <a:t>VITE: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0275" y="2280348"/>
            <a:ext cx="10379710" cy="3202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25"/>
              </a:spcBef>
            </a:pPr>
            <a:r>
              <a:rPr dirty="0" sz="2000">
                <a:latin typeface="Century Gothic"/>
                <a:cs typeface="Century Gothic"/>
              </a:rPr>
              <a:t>Powers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the</a:t>
            </a:r>
            <a:r>
              <a:rPr dirty="0" sz="2000" spc="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single-</a:t>
            </a:r>
            <a:r>
              <a:rPr dirty="0" sz="2000" spc="-190">
                <a:latin typeface="Century Gothic"/>
                <a:cs typeface="Century Gothic"/>
              </a:rPr>
              <a:t>page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0">
                <a:latin typeface="Century Gothic"/>
                <a:cs typeface="Century Gothic"/>
              </a:rPr>
              <a:t>application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interface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with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fast</a:t>
            </a:r>
            <a:r>
              <a:rPr dirty="0" sz="2000" spc="40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local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95">
                <a:latin typeface="Century Gothic"/>
                <a:cs typeface="Century Gothic"/>
              </a:rPr>
              <a:t>compilation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60">
                <a:latin typeface="Century Gothic"/>
                <a:cs typeface="Century Gothic"/>
              </a:rPr>
              <a:t>and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real-</a:t>
            </a:r>
            <a:r>
              <a:rPr dirty="0" sz="2000" spc="-20">
                <a:latin typeface="Century Gothic"/>
                <a:cs typeface="Century Gothic"/>
              </a:rPr>
              <a:t>time </a:t>
            </a:r>
            <a:r>
              <a:rPr dirty="0" sz="2000" spc="-50">
                <a:latin typeface="Century Gothic"/>
                <a:cs typeface="Century Gothic"/>
              </a:rPr>
              <a:t>DOM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rendering.Node.js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90">
                <a:latin typeface="Century Gothic"/>
                <a:cs typeface="Century Gothic"/>
              </a:rPr>
              <a:t>&amp;</a:t>
            </a:r>
            <a:r>
              <a:rPr dirty="0" sz="2000">
                <a:latin typeface="Century Gothic"/>
                <a:cs typeface="Century Gothic"/>
              </a:rPr>
              <a:t> </a:t>
            </a:r>
            <a:r>
              <a:rPr dirty="0" sz="2000" spc="70">
                <a:latin typeface="Century Gothic"/>
                <a:cs typeface="Century Gothic"/>
              </a:rPr>
              <a:t>Express.js:</a:t>
            </a:r>
            <a:r>
              <a:rPr dirty="0" sz="2000" spc="5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Event-</a:t>
            </a:r>
            <a:r>
              <a:rPr dirty="0" sz="2000" spc="-70">
                <a:latin typeface="Century Gothic"/>
                <a:cs typeface="Century Gothic"/>
              </a:rPr>
              <a:t>driven,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 spc="-70">
                <a:latin typeface="Century Gothic"/>
                <a:cs typeface="Century Gothic"/>
              </a:rPr>
              <a:t>non-</a:t>
            </a:r>
            <a:r>
              <a:rPr dirty="0" sz="2000" spc="-80">
                <a:latin typeface="Century Gothic"/>
                <a:cs typeface="Century Gothic"/>
              </a:rPr>
              <a:t>blocking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35">
                <a:latin typeface="Century Gothic"/>
                <a:cs typeface="Century Gothic"/>
              </a:rPr>
              <a:t>runtime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environment </a:t>
            </a:r>
            <a:r>
              <a:rPr dirty="0" sz="2000" spc="-65">
                <a:latin typeface="Century Gothic"/>
                <a:cs typeface="Century Gothic"/>
              </a:rPr>
              <a:t>executing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300">
                <a:latin typeface="Century Gothic"/>
                <a:cs typeface="Century Gothic"/>
              </a:rPr>
              <a:t>REST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API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routing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controllers.MongoDB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-190">
                <a:latin typeface="Century Gothic"/>
                <a:cs typeface="Century Gothic"/>
              </a:rPr>
              <a:t>&amp;</a:t>
            </a:r>
            <a:r>
              <a:rPr dirty="0" sz="2000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Mongoose: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85">
                <a:latin typeface="Century Gothic"/>
                <a:cs typeface="Century Gothic"/>
              </a:rPr>
              <a:t>NoSQL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document </a:t>
            </a:r>
            <a:r>
              <a:rPr dirty="0" sz="2000" spc="-120">
                <a:latin typeface="Century Gothic"/>
                <a:cs typeface="Century Gothic"/>
              </a:rPr>
              <a:t>database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utilizing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0">
                <a:latin typeface="Century Gothic"/>
                <a:cs typeface="Century Gothic"/>
              </a:rPr>
              <a:t>defined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schemas,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types,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30">
                <a:latin typeface="Century Gothic"/>
                <a:cs typeface="Century Gothic"/>
              </a:rPr>
              <a:t>document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65">
                <a:latin typeface="Century Gothic"/>
                <a:cs typeface="Century Gothic"/>
              </a:rPr>
              <a:t>cross-</a:t>
            </a:r>
            <a:r>
              <a:rPr dirty="0" sz="2000" spc="-10">
                <a:latin typeface="Century Gothic"/>
                <a:cs typeface="Century Gothic"/>
              </a:rPr>
              <a:t>referencing.bcryptjs: Salted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one-</a:t>
            </a:r>
            <a:r>
              <a:rPr dirty="0" sz="2000" spc="-125">
                <a:latin typeface="Century Gothic"/>
                <a:cs typeface="Century Gothic"/>
              </a:rPr>
              <a:t>way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80">
                <a:latin typeface="Century Gothic"/>
                <a:cs typeface="Century Gothic"/>
              </a:rPr>
              <a:t>cryptographic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hashing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secure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password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storage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the </a:t>
            </a:r>
            <a:r>
              <a:rPr dirty="0" sz="2000" spc="-85">
                <a:latin typeface="Century Gothic"/>
                <a:cs typeface="Century Gothic"/>
              </a:rPr>
              <a:t>database.jsonwebtoken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55">
                <a:latin typeface="Century Gothic"/>
                <a:cs typeface="Century Gothic"/>
              </a:rPr>
              <a:t>(JWT):</a:t>
            </a:r>
            <a:r>
              <a:rPr dirty="0" sz="2000">
                <a:latin typeface="Century Gothic"/>
                <a:cs typeface="Century Gothic"/>
              </a:rPr>
              <a:t> Stateless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35">
                <a:latin typeface="Century Gothic"/>
                <a:cs typeface="Century Gothic"/>
              </a:rPr>
              <a:t>token</a:t>
            </a:r>
            <a:r>
              <a:rPr dirty="0" sz="2000" spc="45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generation</a:t>
            </a:r>
            <a:r>
              <a:rPr dirty="0" sz="2000" spc="45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signature</a:t>
            </a:r>
            <a:r>
              <a:rPr dirty="0" sz="2000" spc="35">
                <a:latin typeface="Century Gothic"/>
                <a:cs typeface="Century Gothic"/>
              </a:rPr>
              <a:t> </a:t>
            </a:r>
            <a:r>
              <a:rPr dirty="0" sz="2000" spc="-45">
                <a:latin typeface="Century Gothic"/>
                <a:cs typeface="Century Gothic"/>
              </a:rPr>
              <a:t>verification</a:t>
            </a:r>
            <a:r>
              <a:rPr dirty="0" sz="2000" spc="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for </a:t>
            </a:r>
            <a:r>
              <a:rPr dirty="0" sz="2000" spc="-105">
                <a:latin typeface="Century Gothic"/>
                <a:cs typeface="Century Gothic"/>
              </a:rPr>
              <a:t>authenticated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70">
                <a:latin typeface="Century Gothic"/>
                <a:cs typeface="Century Gothic"/>
              </a:rPr>
              <a:t>session</a:t>
            </a:r>
            <a:r>
              <a:rPr dirty="0" sz="2000" spc="-114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access.cors: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65">
                <a:latin typeface="Century Gothic"/>
                <a:cs typeface="Century Gothic"/>
              </a:rPr>
              <a:t>Configured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to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securely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45">
                <a:latin typeface="Century Gothic"/>
                <a:cs typeface="Century Gothic"/>
              </a:rPr>
              <a:t>permit</a:t>
            </a:r>
            <a:r>
              <a:rPr dirty="0" sz="2000" spc="-85">
                <a:latin typeface="Century Gothic"/>
                <a:cs typeface="Century Gothic"/>
              </a:rPr>
              <a:t> </a:t>
            </a:r>
            <a:r>
              <a:rPr dirty="0" sz="2000" spc="75">
                <a:latin typeface="Century Gothic"/>
                <a:cs typeface="Century Gothic"/>
              </a:rPr>
              <a:t>cross-</a:t>
            </a:r>
            <a:r>
              <a:rPr dirty="0" sz="2000" spc="-10">
                <a:latin typeface="Century Gothic"/>
                <a:cs typeface="Century Gothic"/>
              </a:rPr>
              <a:t>origin</a:t>
            </a:r>
            <a:r>
              <a:rPr dirty="0" sz="2000" spc="-9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requests </a:t>
            </a:r>
            <a:r>
              <a:rPr dirty="0" sz="2000" spc="-120">
                <a:latin typeface="Century Gothic"/>
                <a:cs typeface="Century Gothic"/>
              </a:rPr>
              <a:t>between</a:t>
            </a:r>
            <a:r>
              <a:rPr dirty="0" sz="2000" spc="-55">
                <a:latin typeface="Century Gothic"/>
                <a:cs typeface="Century Gothic"/>
              </a:rPr>
              <a:t> the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React</a:t>
            </a:r>
            <a:r>
              <a:rPr dirty="0" sz="2000" spc="20">
                <a:latin typeface="Century Gothic"/>
                <a:cs typeface="Century Gothic"/>
              </a:rPr>
              <a:t> </a:t>
            </a:r>
            <a:r>
              <a:rPr dirty="0" sz="2000" spc="-45">
                <a:latin typeface="Century Gothic"/>
                <a:cs typeface="Century Gothic"/>
              </a:rPr>
              <a:t>frontend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the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110">
                <a:latin typeface="Century Gothic"/>
                <a:cs typeface="Century Gothic"/>
              </a:rPr>
              <a:t>Express</a:t>
            </a:r>
            <a:r>
              <a:rPr dirty="0" sz="2000" spc="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API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server.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45"/>
              </a:spcBef>
            </a:pPr>
            <a:r>
              <a:rPr dirty="0" spc="280"/>
              <a:t>DATABASE</a:t>
            </a:r>
            <a:r>
              <a:rPr dirty="0" spc="-130"/>
              <a:t> </a:t>
            </a:r>
            <a:r>
              <a:rPr dirty="0" spc="170"/>
              <a:t>SCHEMA</a:t>
            </a:r>
            <a:r>
              <a:rPr dirty="0" spc="-114"/>
              <a:t> </a:t>
            </a:r>
            <a:r>
              <a:rPr dirty="0" spc="150"/>
              <a:t>&amp;</a:t>
            </a:r>
            <a:r>
              <a:rPr dirty="0" spc="-150"/>
              <a:t> </a:t>
            </a:r>
            <a:r>
              <a:rPr dirty="0" spc="390"/>
              <a:t>ENTITY</a:t>
            </a:r>
            <a:r>
              <a:rPr dirty="0" spc="-95"/>
              <a:t> </a:t>
            </a:r>
            <a:r>
              <a:rPr dirty="0" spc="200"/>
              <a:t>MODELINGUSER </a:t>
            </a:r>
            <a:r>
              <a:rPr dirty="0" spc="120"/>
              <a:t>SCHEMA: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91465" marR="5080">
              <a:lnSpc>
                <a:spcPct val="130600"/>
              </a:lnSpc>
              <a:spcBef>
                <a:spcPts val="114"/>
              </a:spcBef>
            </a:pPr>
            <a:r>
              <a:rPr dirty="0"/>
              <a:t>Fields:</a:t>
            </a:r>
            <a:r>
              <a:rPr dirty="0" spc="5"/>
              <a:t> </a:t>
            </a:r>
            <a:r>
              <a:rPr dirty="0" spc="-170"/>
              <a:t>name,</a:t>
            </a:r>
            <a:r>
              <a:rPr dirty="0" spc="20"/>
              <a:t> </a:t>
            </a:r>
            <a:r>
              <a:rPr dirty="0" spc="-100"/>
              <a:t>email</a:t>
            </a:r>
            <a:r>
              <a:rPr dirty="0"/>
              <a:t> </a:t>
            </a:r>
            <a:r>
              <a:rPr dirty="0" spc="-100"/>
              <a:t>(unique</a:t>
            </a:r>
            <a:r>
              <a:rPr dirty="0" spc="-40"/>
              <a:t> </a:t>
            </a:r>
            <a:r>
              <a:rPr dirty="0" spc="-70"/>
              <a:t>index),</a:t>
            </a:r>
            <a:r>
              <a:rPr dirty="0" spc="20"/>
              <a:t> </a:t>
            </a:r>
            <a:r>
              <a:rPr dirty="0" spc="-10"/>
              <a:t>password</a:t>
            </a:r>
            <a:r>
              <a:rPr dirty="0"/>
              <a:t> </a:t>
            </a:r>
            <a:r>
              <a:rPr dirty="0" spc="-85"/>
              <a:t>(hashed</a:t>
            </a:r>
            <a:r>
              <a:rPr dirty="0"/>
              <a:t> string),</a:t>
            </a:r>
            <a:r>
              <a:rPr dirty="0" spc="15"/>
              <a:t> </a:t>
            </a:r>
            <a:r>
              <a:rPr dirty="0"/>
              <a:t>role</a:t>
            </a:r>
            <a:r>
              <a:rPr dirty="0" spc="40"/>
              <a:t> </a:t>
            </a:r>
            <a:r>
              <a:rPr dirty="0" spc="-125"/>
              <a:t>(enum:</a:t>
            </a:r>
            <a:r>
              <a:rPr dirty="0" spc="10"/>
              <a:t> </a:t>
            </a:r>
            <a:r>
              <a:rPr dirty="0"/>
              <a:t>'user'</a:t>
            </a:r>
            <a:r>
              <a:rPr dirty="0" spc="-5"/>
              <a:t> </a:t>
            </a:r>
            <a:r>
              <a:rPr dirty="0" spc="-905"/>
              <a:t>|</a:t>
            </a:r>
            <a:r>
              <a:rPr dirty="0" spc="-60"/>
              <a:t> 'admin').Facility</a:t>
            </a:r>
            <a:r>
              <a:rPr dirty="0" spc="-35"/>
              <a:t> Schema:Fields:</a:t>
            </a:r>
            <a:r>
              <a:rPr dirty="0" spc="-40"/>
              <a:t> </a:t>
            </a:r>
            <a:r>
              <a:rPr dirty="0" spc="-170"/>
              <a:t>name,</a:t>
            </a:r>
            <a:r>
              <a:rPr dirty="0" spc="-20"/>
              <a:t> </a:t>
            </a:r>
            <a:r>
              <a:rPr dirty="0" spc="-90"/>
              <a:t>category</a:t>
            </a:r>
            <a:r>
              <a:rPr dirty="0" spc="-35"/>
              <a:t> </a:t>
            </a:r>
            <a:r>
              <a:rPr dirty="0"/>
              <a:t>(Park,</a:t>
            </a:r>
            <a:r>
              <a:rPr dirty="0" spc="-25"/>
              <a:t> </a:t>
            </a:r>
            <a:r>
              <a:rPr dirty="0" spc="-10"/>
              <a:t>Hospital,</a:t>
            </a:r>
            <a:r>
              <a:rPr dirty="0" spc="-30"/>
              <a:t> </a:t>
            </a:r>
            <a:r>
              <a:rPr dirty="0" spc="-10"/>
              <a:t>Restroom,</a:t>
            </a:r>
            <a:r>
              <a:rPr dirty="0" spc="-25"/>
              <a:t> </a:t>
            </a:r>
            <a:r>
              <a:rPr dirty="0"/>
              <a:t>Library,</a:t>
            </a:r>
            <a:r>
              <a:rPr dirty="0" spc="-30"/>
              <a:t> </a:t>
            </a:r>
            <a:r>
              <a:rPr dirty="0" spc="120"/>
              <a:t>Bus </a:t>
            </a:r>
            <a:r>
              <a:rPr dirty="0" spc="-10"/>
              <a:t>Stop),</a:t>
            </a:r>
            <a:r>
              <a:rPr dirty="0" spc="-80"/>
              <a:t> </a:t>
            </a:r>
            <a:r>
              <a:rPr dirty="0" spc="-20"/>
              <a:t>address,</a:t>
            </a:r>
            <a:r>
              <a:rPr dirty="0" spc="-30"/>
              <a:t> </a:t>
            </a:r>
            <a:r>
              <a:rPr dirty="0" spc="-80"/>
              <a:t>city.Feedback</a:t>
            </a:r>
            <a:r>
              <a:rPr dirty="0" spc="-55"/>
              <a:t> </a:t>
            </a:r>
            <a:r>
              <a:rPr dirty="0" spc="-30"/>
              <a:t>Schema:Fields:</a:t>
            </a:r>
            <a:r>
              <a:rPr dirty="0" spc="-45"/>
              <a:t> </a:t>
            </a:r>
            <a:r>
              <a:rPr dirty="0" spc="-35"/>
              <a:t>facilityId</a:t>
            </a:r>
            <a:r>
              <a:rPr dirty="0" spc="-50"/>
              <a:t> </a:t>
            </a:r>
            <a:r>
              <a:rPr dirty="0" spc="-55"/>
              <a:t>(MongoDB</a:t>
            </a:r>
            <a:r>
              <a:rPr dirty="0" spc="-85"/>
              <a:t> </a:t>
            </a:r>
            <a:r>
              <a:rPr dirty="0" spc="-80"/>
              <a:t>ObjectId</a:t>
            </a:r>
            <a:r>
              <a:rPr dirty="0" spc="-85"/>
              <a:t> </a:t>
            </a:r>
            <a:r>
              <a:rPr dirty="0" spc="-10"/>
              <a:t>foreign </a:t>
            </a:r>
            <a:r>
              <a:rPr dirty="0" spc="-60"/>
              <a:t>reference</a:t>
            </a:r>
            <a:r>
              <a:rPr dirty="0" spc="-80"/>
              <a:t> </a:t>
            </a:r>
            <a:r>
              <a:rPr dirty="0" spc="-10"/>
              <a:t>linking</a:t>
            </a:r>
            <a:r>
              <a:rPr dirty="0" spc="-75"/>
              <a:t> </a:t>
            </a:r>
            <a:r>
              <a:rPr dirty="0" spc="-30"/>
              <a:t>to</a:t>
            </a:r>
            <a:r>
              <a:rPr dirty="0" spc="-45"/>
              <a:t> </a:t>
            </a:r>
            <a:r>
              <a:rPr dirty="0" spc="-20"/>
              <a:t>Facility),</a:t>
            </a:r>
            <a:r>
              <a:rPr dirty="0" spc="-30"/>
              <a:t> </a:t>
            </a:r>
            <a:r>
              <a:rPr dirty="0" spc="-60"/>
              <a:t>userName,</a:t>
            </a:r>
            <a:r>
              <a:rPr dirty="0" spc="-30"/>
              <a:t> rating</a:t>
            </a:r>
            <a:r>
              <a:rPr dirty="0" spc="-50"/>
              <a:t> </a:t>
            </a:r>
            <a:r>
              <a:rPr dirty="0" spc="-204"/>
              <a:t>(1</a:t>
            </a:r>
            <a:r>
              <a:rPr dirty="0" spc="-8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 spc="75"/>
              <a:t>5</a:t>
            </a:r>
            <a:r>
              <a:rPr dirty="0" spc="-105"/>
              <a:t> </a:t>
            </a:r>
            <a:r>
              <a:rPr dirty="0" spc="-65"/>
              <a:t>numeric</a:t>
            </a:r>
            <a:r>
              <a:rPr dirty="0" spc="-50"/>
              <a:t> </a:t>
            </a:r>
            <a:r>
              <a:rPr dirty="0" spc="-120"/>
              <a:t>value),</a:t>
            </a:r>
            <a:r>
              <a:rPr dirty="0" spc="-20"/>
              <a:t> </a:t>
            </a:r>
            <a:r>
              <a:rPr dirty="0" spc="-140"/>
              <a:t>comment,</a:t>
            </a:r>
            <a:r>
              <a:rPr dirty="0" spc="-20"/>
              <a:t> </a:t>
            </a:r>
            <a:r>
              <a:rPr dirty="0" spc="-10"/>
              <a:t>status </a:t>
            </a:r>
            <a:r>
              <a:rPr dirty="0" spc="-75"/>
              <a:t>('Pending'</a:t>
            </a:r>
            <a:r>
              <a:rPr dirty="0" spc="-10"/>
              <a:t> </a:t>
            </a:r>
            <a:r>
              <a:rPr dirty="0" spc="-855"/>
              <a:t>|</a:t>
            </a:r>
            <a:r>
              <a:rPr dirty="0" spc="25"/>
              <a:t> </a:t>
            </a:r>
            <a:r>
              <a:rPr dirty="0" spc="-10"/>
              <a:t>'Resolved')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45"/>
              </a:spcBef>
            </a:pPr>
            <a:r>
              <a:rPr dirty="0" spc="560"/>
              <a:t>REST</a:t>
            </a:r>
            <a:r>
              <a:rPr dirty="0" spc="-120"/>
              <a:t> </a:t>
            </a:r>
            <a:r>
              <a:rPr dirty="0" spc="125"/>
              <a:t>API</a:t>
            </a:r>
            <a:r>
              <a:rPr dirty="0" spc="-130"/>
              <a:t> </a:t>
            </a:r>
            <a:r>
              <a:rPr dirty="0" spc="170"/>
              <a:t>DESIGN</a:t>
            </a:r>
            <a:r>
              <a:rPr dirty="0" spc="-95"/>
              <a:t> </a:t>
            </a:r>
            <a:r>
              <a:rPr dirty="0" spc="150"/>
              <a:t>&amp;</a:t>
            </a:r>
            <a:r>
              <a:rPr dirty="0" spc="-150"/>
              <a:t> </a:t>
            </a:r>
            <a:r>
              <a:rPr dirty="0" spc="145"/>
              <a:t>CRUD </a:t>
            </a:r>
            <a:r>
              <a:rPr dirty="0" spc="260"/>
              <a:t>IMPLEMENTATIONCREATE</a:t>
            </a:r>
            <a:r>
              <a:rPr dirty="0" spc="-50"/>
              <a:t> </a:t>
            </a:r>
            <a:r>
              <a:rPr dirty="0" spc="190"/>
              <a:t>(POST):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015" y="2213038"/>
            <a:ext cx="10429875" cy="2810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0400"/>
              </a:lnSpc>
              <a:spcBef>
                <a:spcPts val="120"/>
              </a:spcBef>
            </a:pPr>
            <a:r>
              <a:rPr dirty="0" sz="2000" spc="-20">
                <a:latin typeface="Century Gothic"/>
                <a:cs typeface="Century Gothic"/>
              </a:rPr>
              <a:t>/api/register</a:t>
            </a:r>
            <a:r>
              <a:rPr dirty="0" sz="2000" spc="-9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—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Creates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-240">
                <a:latin typeface="Century Gothic"/>
                <a:cs typeface="Century Gothic"/>
              </a:rPr>
              <a:t>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30">
                <a:latin typeface="Century Gothic"/>
                <a:cs typeface="Century Gothic"/>
              </a:rPr>
              <a:t>new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55">
                <a:latin typeface="Century Gothic"/>
                <a:cs typeface="Century Gothic"/>
              </a:rPr>
              <a:t>user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with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65">
                <a:latin typeface="Century Gothic"/>
                <a:cs typeface="Century Gothic"/>
              </a:rPr>
              <a:t>an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-100">
                <a:latin typeface="Century Gothic"/>
                <a:cs typeface="Century Gothic"/>
              </a:rPr>
              <a:t>encrypted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35">
                <a:latin typeface="Century Gothic"/>
                <a:cs typeface="Century Gothic"/>
              </a:rPr>
              <a:t>password./api/facilities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—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Adds</a:t>
            </a:r>
            <a:r>
              <a:rPr dirty="0" sz="2000" spc="30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a </a:t>
            </a:r>
            <a:r>
              <a:rPr dirty="0" sz="2000" spc="-110">
                <a:latin typeface="Century Gothic"/>
                <a:cs typeface="Century Gothic"/>
              </a:rPr>
              <a:t>new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0">
                <a:latin typeface="Century Gothic"/>
                <a:cs typeface="Century Gothic"/>
              </a:rPr>
              <a:t>public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facility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record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5">
                <a:latin typeface="Century Gothic"/>
                <a:cs typeface="Century Gothic"/>
              </a:rPr>
              <a:t>(Admin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privilege)./api/feedback</a:t>
            </a:r>
            <a:r>
              <a:rPr dirty="0" sz="2000" spc="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—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Submits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240">
                <a:latin typeface="Century Gothic"/>
                <a:cs typeface="Century Gothic"/>
              </a:rPr>
              <a:t>a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rating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130">
                <a:latin typeface="Century Gothic"/>
                <a:cs typeface="Century Gothic"/>
              </a:rPr>
              <a:t>comment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(Protected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route </a:t>
            </a:r>
            <a:r>
              <a:rPr dirty="0" sz="2000" spc="-35">
                <a:latin typeface="Century Gothic"/>
                <a:cs typeface="Century Gothic"/>
              </a:rPr>
              <a:t>requiring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Bearer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JWT).Read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(GET):/api/facilities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—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Retrieves </a:t>
            </a:r>
            <a:r>
              <a:rPr dirty="0" sz="2000" spc="-7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full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-135">
                <a:latin typeface="Century Gothic"/>
                <a:cs typeface="Century Gothic"/>
              </a:rPr>
              <a:t>catalog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85">
                <a:latin typeface="Century Gothic"/>
                <a:cs typeface="Century Gothic"/>
              </a:rPr>
              <a:t>public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facilities./api/feedback/:facilityId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—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Retrieves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all</a:t>
            </a:r>
            <a:r>
              <a:rPr dirty="0" sz="2000" spc="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user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reviews </a:t>
            </a:r>
            <a:r>
              <a:rPr dirty="0" sz="2000" spc="-35">
                <a:latin typeface="Century Gothic"/>
                <a:cs typeface="Century Gothic"/>
              </a:rPr>
              <a:t>specific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240">
                <a:latin typeface="Century Gothic"/>
                <a:cs typeface="Century Gothic"/>
              </a:rPr>
              <a:t>a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facility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ID.Update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(PUT):/api/feedback/:id/status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—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Updates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feedback </a:t>
            </a:r>
            <a:r>
              <a:rPr dirty="0" sz="2000">
                <a:latin typeface="Century Gothic"/>
                <a:cs typeface="Century Gothic"/>
              </a:rPr>
              <a:t>resolution</a:t>
            </a:r>
            <a:r>
              <a:rPr dirty="0" sz="2000" spc="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state</a:t>
            </a:r>
            <a:r>
              <a:rPr dirty="0" sz="2000" spc="40">
                <a:latin typeface="Century Gothic"/>
                <a:cs typeface="Century Gothic"/>
              </a:rPr>
              <a:t> </a:t>
            </a:r>
            <a:r>
              <a:rPr dirty="0" sz="2000" spc="-125">
                <a:latin typeface="Century Gothic"/>
                <a:cs typeface="Century Gothic"/>
              </a:rPr>
              <a:t>(e.g.,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-95">
                <a:latin typeface="Century Gothic"/>
                <a:cs typeface="Century Gothic"/>
              </a:rPr>
              <a:t>Pending</a:t>
            </a:r>
            <a:r>
              <a:rPr dirty="0" sz="2000">
                <a:latin typeface="Century Gothic"/>
                <a:cs typeface="Century Gothic"/>
              </a:rPr>
              <a:t> to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Resolved).Delete</a:t>
            </a:r>
            <a:r>
              <a:rPr dirty="0" sz="2000" spc="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(DELETE):/api/facilities/:id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—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Deletes </a:t>
            </a:r>
            <a:r>
              <a:rPr dirty="0" sz="2000" spc="-70">
                <a:latin typeface="Century Gothic"/>
                <a:cs typeface="Century Gothic"/>
              </a:rPr>
              <a:t>decommissioned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85">
                <a:latin typeface="Century Gothic"/>
                <a:cs typeface="Century Gothic"/>
              </a:rPr>
              <a:t>public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facilities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5">
                <a:latin typeface="Century Gothic"/>
                <a:cs typeface="Century Gothic"/>
              </a:rPr>
              <a:t>(Admin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privilege).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45"/>
              </a:spcBef>
            </a:pPr>
            <a:r>
              <a:rPr dirty="0" spc="335"/>
              <a:t>SECURITY</a:t>
            </a:r>
            <a:r>
              <a:rPr dirty="0" spc="-155"/>
              <a:t> </a:t>
            </a:r>
            <a:r>
              <a:rPr dirty="0" spc="150"/>
              <a:t>&amp;</a:t>
            </a:r>
            <a:r>
              <a:rPr dirty="0" spc="-145"/>
              <a:t> </a:t>
            </a:r>
            <a:r>
              <a:rPr dirty="0" spc="215"/>
              <a:t>ROLE-</a:t>
            </a:r>
            <a:r>
              <a:rPr dirty="0" spc="310"/>
              <a:t>BASED</a:t>
            </a:r>
            <a:r>
              <a:rPr dirty="0" spc="-155"/>
              <a:t> </a:t>
            </a:r>
            <a:r>
              <a:rPr dirty="0" spc="225"/>
              <a:t>ACCESS</a:t>
            </a:r>
            <a:r>
              <a:rPr dirty="0" spc="-190"/>
              <a:t> </a:t>
            </a:r>
            <a:r>
              <a:rPr dirty="0" spc="185"/>
              <a:t>CONTROL </a:t>
            </a:r>
            <a:r>
              <a:rPr dirty="0" spc="150"/>
              <a:t>(RBAC)CRYPTOGRAPHIC</a:t>
            </a:r>
            <a:r>
              <a:rPr dirty="0" spc="-70"/>
              <a:t> </a:t>
            </a:r>
            <a:r>
              <a:rPr dirty="0" spc="210"/>
              <a:t>STORAGE: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987" y="2268918"/>
            <a:ext cx="10674350" cy="24104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125"/>
              </a:spcBef>
            </a:pPr>
            <a:r>
              <a:rPr dirty="0" sz="2000">
                <a:latin typeface="Century Gothic"/>
                <a:cs typeface="Century Gothic"/>
              </a:rPr>
              <a:t>Passwords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are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 spc="-80">
                <a:latin typeface="Century Gothic"/>
                <a:cs typeface="Century Gothic"/>
              </a:rPr>
              <a:t>never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stored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85">
                <a:latin typeface="Century Gothic"/>
                <a:cs typeface="Century Gothic"/>
              </a:rPr>
              <a:t>plain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text;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bcryptjs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65">
                <a:latin typeface="Century Gothic"/>
                <a:cs typeface="Century Gothic"/>
              </a:rPr>
              <a:t>salts</a:t>
            </a:r>
            <a:r>
              <a:rPr dirty="0" sz="2000" spc="45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hashes</a:t>
            </a:r>
            <a:r>
              <a:rPr dirty="0" sz="2000" spc="45">
                <a:latin typeface="Century Gothic"/>
                <a:cs typeface="Century Gothic"/>
              </a:rPr>
              <a:t> </a:t>
            </a:r>
            <a:r>
              <a:rPr dirty="0" sz="2000" spc="65">
                <a:latin typeface="Century Gothic"/>
                <a:cs typeface="Century Gothic"/>
              </a:rPr>
              <a:t>strings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65">
                <a:latin typeface="Century Gothic"/>
                <a:cs typeface="Century Gothic"/>
              </a:rPr>
              <a:t>before </a:t>
            </a:r>
            <a:r>
              <a:rPr dirty="0" sz="2000" spc="-10">
                <a:latin typeface="Century Gothic"/>
                <a:cs typeface="Century Gothic"/>
              </a:rPr>
              <a:t>saving </a:t>
            </a:r>
            <a:r>
              <a:rPr dirty="0" sz="2000" spc="-95">
                <a:latin typeface="Century Gothic"/>
                <a:cs typeface="Century Gothic"/>
              </a:rPr>
              <a:t>them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to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MongoDB.Token-</a:t>
            </a:r>
            <a:r>
              <a:rPr dirty="0" sz="2000">
                <a:latin typeface="Century Gothic"/>
                <a:cs typeface="Century Gothic"/>
              </a:rPr>
              <a:t>Based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Route</a:t>
            </a:r>
            <a:r>
              <a:rPr dirty="0" sz="2000" spc="-100">
                <a:latin typeface="Century Gothic"/>
                <a:cs typeface="Century Gothic"/>
              </a:rPr>
              <a:t> </a:t>
            </a:r>
            <a:r>
              <a:rPr dirty="0" sz="2000" spc="-35">
                <a:latin typeface="Century Gothic"/>
                <a:cs typeface="Century Gothic"/>
              </a:rPr>
              <a:t>Protection: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Custom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110">
                <a:latin typeface="Century Gothic"/>
                <a:cs typeface="Century Gothic"/>
              </a:rPr>
              <a:t>Express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middleware </a:t>
            </a:r>
            <a:r>
              <a:rPr dirty="0" sz="2000">
                <a:latin typeface="Century Gothic"/>
                <a:cs typeface="Century Gothic"/>
              </a:rPr>
              <a:t>(verifyToken)</a:t>
            </a:r>
            <a:r>
              <a:rPr dirty="0" sz="2000" spc="-110">
                <a:latin typeface="Century Gothic"/>
                <a:cs typeface="Century Gothic"/>
              </a:rPr>
              <a:t> </a:t>
            </a:r>
            <a:r>
              <a:rPr dirty="0" sz="2000" spc="-35">
                <a:latin typeface="Century Gothic"/>
                <a:cs typeface="Century Gothic"/>
              </a:rPr>
              <a:t>checks</a:t>
            </a:r>
            <a:r>
              <a:rPr dirty="0" sz="2000" spc="-60">
                <a:latin typeface="Century Gothic"/>
                <a:cs typeface="Century Gothic"/>
              </a:rPr>
              <a:t> the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290">
                <a:latin typeface="Century Gothic"/>
                <a:cs typeface="Century Gothic"/>
              </a:rPr>
              <a:t>HTTP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Authorization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20">
                <a:latin typeface="Century Gothic"/>
                <a:cs typeface="Century Gothic"/>
              </a:rPr>
              <a:t>header,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extracts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Bearer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45">
                <a:latin typeface="Century Gothic"/>
                <a:cs typeface="Century Gothic"/>
              </a:rPr>
              <a:t>token, </a:t>
            </a:r>
            <a:r>
              <a:rPr dirty="0" sz="2000" spc="-10">
                <a:latin typeface="Century Gothic"/>
                <a:cs typeface="Century Gothic"/>
              </a:rPr>
              <a:t>verifies </a:t>
            </a:r>
            <a:r>
              <a:rPr dirty="0" sz="2000" spc="-70">
                <a:latin typeface="Century Gothic"/>
                <a:cs typeface="Century Gothic"/>
              </a:rPr>
              <a:t>the </a:t>
            </a:r>
            <a:r>
              <a:rPr dirty="0" sz="2000" spc="-35">
                <a:latin typeface="Century Gothic"/>
                <a:cs typeface="Century Gothic"/>
              </a:rPr>
              <a:t>signature,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rejects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unauthorized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requests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with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285">
                <a:latin typeface="Century Gothic"/>
                <a:cs typeface="Century Gothic"/>
              </a:rPr>
              <a:t>HTTP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401/403.Conditional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Frontend </a:t>
            </a:r>
            <a:r>
              <a:rPr dirty="0" sz="2000" spc="-55">
                <a:latin typeface="Century Gothic"/>
                <a:cs typeface="Century Gothic"/>
              </a:rPr>
              <a:t>Rendering:</a:t>
            </a:r>
            <a:r>
              <a:rPr dirty="0" sz="2000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Administrative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85">
                <a:latin typeface="Century Gothic"/>
                <a:cs typeface="Century Gothic"/>
              </a:rPr>
              <a:t>UI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components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(like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70">
                <a:latin typeface="Century Gothic"/>
                <a:cs typeface="Century Gothic"/>
              </a:rPr>
              <a:t>the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5">
                <a:latin typeface="Century Gothic"/>
                <a:cs typeface="Century Gothic"/>
              </a:rPr>
              <a:t>"Add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Facility"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form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0">
                <a:latin typeface="Century Gothic"/>
                <a:cs typeface="Century Gothic"/>
              </a:rPr>
              <a:t>delete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actions) </a:t>
            </a:r>
            <a:r>
              <a:rPr dirty="0" sz="2000" spc="-55">
                <a:latin typeface="Century Gothic"/>
                <a:cs typeface="Century Gothic"/>
              </a:rPr>
              <a:t>are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rendered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10">
                <a:latin typeface="Century Gothic"/>
                <a:cs typeface="Century Gothic"/>
              </a:rPr>
              <a:t>dynamically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85">
                <a:latin typeface="Century Gothic"/>
                <a:cs typeface="Century Gothic"/>
              </a:rPr>
              <a:t>based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25">
                <a:latin typeface="Century Gothic"/>
                <a:cs typeface="Century Gothic"/>
              </a:rPr>
              <a:t>on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 spc="-65">
                <a:latin typeface="Century Gothic"/>
                <a:cs typeface="Century Gothic"/>
              </a:rPr>
              <a:t>the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verified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role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145">
                <a:latin typeface="Century Gothic"/>
                <a:cs typeface="Century Gothic"/>
              </a:rPr>
              <a:t>payload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70">
                <a:latin typeface="Century Gothic"/>
                <a:cs typeface="Century Gothic"/>
              </a:rPr>
              <a:t>the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0">
                <a:latin typeface="Century Gothic"/>
                <a:cs typeface="Century Gothic"/>
              </a:rPr>
              <a:t>logged-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user.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7764" y="1019810"/>
            <a:ext cx="10637520" cy="1042669"/>
          </a:xfrm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760"/>
              </a:spcBef>
            </a:pPr>
            <a:r>
              <a:rPr dirty="0" sz="3600" spc="575"/>
              <a:t>RESULTS</a:t>
            </a:r>
            <a:r>
              <a:rPr dirty="0" sz="3600" spc="-180"/>
              <a:t> </a:t>
            </a:r>
            <a:r>
              <a:rPr dirty="0" sz="3600" spc="145"/>
              <a:t>&amp;</a:t>
            </a:r>
            <a:r>
              <a:rPr dirty="0" sz="3600" spc="-85"/>
              <a:t> </a:t>
            </a:r>
            <a:r>
              <a:rPr dirty="0" sz="3600" spc="340"/>
              <a:t>PROJECT</a:t>
            </a:r>
            <a:r>
              <a:rPr dirty="0" sz="3600" spc="-120"/>
              <a:t> </a:t>
            </a:r>
            <a:r>
              <a:rPr dirty="0" sz="3600" spc="265"/>
              <a:t>DEMONSTRATIONFULL-</a:t>
            </a:r>
            <a:r>
              <a:rPr dirty="0" sz="3600" spc="355"/>
              <a:t>STACK</a:t>
            </a:r>
            <a:r>
              <a:rPr dirty="0" sz="3600" spc="-185"/>
              <a:t> </a:t>
            </a:r>
            <a:r>
              <a:rPr dirty="0" sz="3600" spc="195"/>
              <a:t>EXECUTION: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67764" y="2295637"/>
            <a:ext cx="10189210" cy="2409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120"/>
              </a:spcBef>
            </a:pPr>
            <a:r>
              <a:rPr dirty="0" sz="2000">
                <a:latin typeface="Century Gothic"/>
                <a:cs typeface="Century Gothic"/>
              </a:rPr>
              <a:t>Both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services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-85">
                <a:latin typeface="Century Gothic"/>
                <a:cs typeface="Century Gothic"/>
              </a:rPr>
              <a:t>operating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concurrently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(Node/Express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API</a:t>
            </a:r>
            <a:r>
              <a:rPr dirty="0" sz="2000" spc="95">
                <a:latin typeface="Century Gothic"/>
                <a:cs typeface="Century Gothic"/>
              </a:rPr>
              <a:t> </a:t>
            </a:r>
            <a:r>
              <a:rPr dirty="0" sz="2000" spc="-125">
                <a:latin typeface="Century Gothic"/>
                <a:cs typeface="Century Gothic"/>
              </a:rPr>
              <a:t>on</a:t>
            </a:r>
            <a:r>
              <a:rPr dirty="0" sz="2000" spc="6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port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170">
                <a:latin typeface="Century Gothic"/>
                <a:cs typeface="Century Gothic"/>
              </a:rPr>
              <a:t>5000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</a:t>
            </a:r>
            <a:r>
              <a:rPr dirty="0" sz="2000" spc="500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Vite/React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on</a:t>
            </a:r>
            <a:r>
              <a:rPr dirty="0" sz="2000" spc="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port</a:t>
            </a:r>
            <a:r>
              <a:rPr dirty="0" sz="2000" spc="35">
                <a:latin typeface="Century Gothic"/>
                <a:cs typeface="Century Gothic"/>
              </a:rPr>
              <a:t> </a:t>
            </a:r>
            <a:r>
              <a:rPr dirty="0" sz="2000" spc="-65">
                <a:latin typeface="Century Gothic"/>
                <a:cs typeface="Century Gothic"/>
              </a:rPr>
              <a:t>5173).Interactive</a:t>
            </a:r>
            <a:r>
              <a:rPr dirty="0" sz="2000" spc="30">
                <a:latin typeface="Century Gothic"/>
                <a:cs typeface="Century Gothic"/>
              </a:rPr>
              <a:t> </a:t>
            </a:r>
            <a:r>
              <a:rPr dirty="0" sz="2000" spc="-95">
                <a:latin typeface="Century Gothic"/>
                <a:cs typeface="Century Gothic"/>
              </a:rPr>
              <a:t>Dashboard:</a:t>
            </a:r>
            <a:r>
              <a:rPr dirty="0" sz="2000">
                <a:latin typeface="Century Gothic"/>
                <a:cs typeface="Century Gothic"/>
              </a:rPr>
              <a:t> Citizens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 spc="-175">
                <a:latin typeface="Century Gothic"/>
                <a:cs typeface="Century Gothic"/>
              </a:rPr>
              <a:t>can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filter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facilities,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view </a:t>
            </a:r>
            <a:r>
              <a:rPr dirty="0" sz="2000" spc="-10">
                <a:latin typeface="Century Gothic"/>
                <a:cs typeface="Century Gothic"/>
              </a:rPr>
              <a:t>ratings,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6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publish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10">
                <a:latin typeface="Century Gothic"/>
                <a:cs typeface="Century Gothic"/>
              </a:rPr>
              <a:t>immediate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reviews.Live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Administrative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140">
                <a:latin typeface="Century Gothic"/>
                <a:cs typeface="Century Gothic"/>
              </a:rPr>
              <a:t>Management: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Verified</a:t>
            </a:r>
            <a:r>
              <a:rPr dirty="0" sz="2000" spc="500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ability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to </a:t>
            </a:r>
            <a:r>
              <a:rPr dirty="0" sz="2000" spc="-210">
                <a:latin typeface="Century Gothic"/>
                <a:cs typeface="Century Gothic"/>
              </a:rPr>
              <a:t>add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facilities,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inspect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95">
                <a:latin typeface="Century Gothic"/>
                <a:cs typeface="Century Gothic"/>
              </a:rPr>
              <a:t>incoming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75">
                <a:latin typeface="Century Gothic"/>
                <a:cs typeface="Century Gothic"/>
              </a:rPr>
              <a:t>complaints,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6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14">
                <a:latin typeface="Century Gothic"/>
                <a:cs typeface="Century Gothic"/>
              </a:rPr>
              <a:t>delete</a:t>
            </a:r>
            <a:r>
              <a:rPr dirty="0" sz="2000">
                <a:latin typeface="Century Gothic"/>
                <a:cs typeface="Century Gothic"/>
              </a:rPr>
              <a:t> </a:t>
            </a:r>
            <a:r>
              <a:rPr dirty="0" sz="2000" spc="-130">
                <a:latin typeface="Century Gothic"/>
                <a:cs typeface="Century Gothic"/>
              </a:rPr>
              <a:t>outdated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entries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real </a:t>
            </a:r>
            <a:r>
              <a:rPr dirty="0" sz="2000">
                <a:latin typeface="Century Gothic"/>
                <a:cs typeface="Century Gothic"/>
              </a:rPr>
              <a:t>time.Strict</a:t>
            </a:r>
            <a:r>
              <a:rPr dirty="0" sz="2000" spc="60">
                <a:latin typeface="Century Gothic"/>
                <a:cs typeface="Century Gothic"/>
              </a:rPr>
              <a:t> </a:t>
            </a:r>
            <a:r>
              <a:rPr dirty="0" sz="2000" spc="120">
                <a:latin typeface="Century Gothic"/>
                <a:cs typeface="Century Gothic"/>
              </a:rPr>
              <a:t>Error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 spc="-70">
                <a:latin typeface="Century Gothic"/>
                <a:cs typeface="Century Gothic"/>
              </a:rPr>
              <a:t>Handling: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API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responses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 spc="-195">
                <a:latin typeface="Century Gothic"/>
                <a:cs typeface="Century Gothic"/>
              </a:rPr>
              <a:t>mapped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to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standard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290">
                <a:latin typeface="Century Gothic"/>
                <a:cs typeface="Century Gothic"/>
              </a:rPr>
              <a:t>HTTP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status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codes </a:t>
            </a:r>
            <a:r>
              <a:rPr dirty="0" sz="2000" spc="114">
                <a:latin typeface="Century Gothic"/>
                <a:cs typeface="Century Gothic"/>
              </a:rPr>
              <a:t>(200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OK,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201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10">
                <a:latin typeface="Century Gothic"/>
                <a:cs typeface="Century Gothic"/>
              </a:rPr>
              <a:t>Created,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180">
                <a:latin typeface="Century Gothic"/>
                <a:cs typeface="Century Gothic"/>
              </a:rPr>
              <a:t>400</a:t>
            </a:r>
            <a:r>
              <a:rPr dirty="0" sz="2000" spc="-40">
                <a:latin typeface="Century Gothic"/>
                <a:cs typeface="Century Gothic"/>
              </a:rPr>
              <a:t> Bad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Request,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401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Unauthorized,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145">
                <a:latin typeface="Century Gothic"/>
                <a:cs typeface="Century Gothic"/>
              </a:rPr>
              <a:t>403</a:t>
            </a:r>
            <a:r>
              <a:rPr dirty="0" sz="2000" spc="-10">
                <a:latin typeface="Century Gothic"/>
                <a:cs typeface="Century Gothic"/>
              </a:rPr>
              <a:t> Forbidden).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45"/>
              </a:spcBef>
            </a:pPr>
            <a:r>
              <a:rPr dirty="0" spc="450"/>
              <a:t>FUTURE</a:t>
            </a:r>
            <a:r>
              <a:rPr dirty="0" spc="-130"/>
              <a:t> </a:t>
            </a:r>
            <a:r>
              <a:rPr dirty="0" spc="235"/>
              <a:t>SCOPE</a:t>
            </a:r>
            <a:r>
              <a:rPr dirty="0" spc="-130"/>
              <a:t> </a:t>
            </a:r>
            <a:r>
              <a:rPr dirty="0" spc="150"/>
              <a:t>&amp;</a:t>
            </a:r>
            <a:r>
              <a:rPr dirty="0" spc="-125"/>
              <a:t> </a:t>
            </a:r>
            <a:r>
              <a:rPr dirty="0" spc="155"/>
              <a:t>CONCLUSIONGEOSPATIAL </a:t>
            </a:r>
            <a:r>
              <a:rPr dirty="0" spc="215"/>
              <a:t>PROXIMITY</a:t>
            </a:r>
            <a:r>
              <a:rPr dirty="0" spc="-160"/>
              <a:t> </a:t>
            </a:r>
            <a:r>
              <a:rPr dirty="0" spc="235"/>
              <a:t>QUERIES: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7764" y="2187257"/>
            <a:ext cx="9940925" cy="3201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25"/>
              </a:spcBef>
            </a:pPr>
            <a:r>
              <a:rPr dirty="0" sz="2000" spc="-90">
                <a:latin typeface="Century Gothic"/>
                <a:cs typeface="Century Gothic"/>
              </a:rPr>
              <a:t>Implementing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MongoDB</a:t>
            </a:r>
            <a:r>
              <a:rPr dirty="0" sz="2000" spc="-8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2dsphere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indexes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to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5">
                <a:latin typeface="Century Gothic"/>
                <a:cs typeface="Century Gothic"/>
              </a:rPr>
              <a:t>locate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90">
                <a:latin typeface="Century Gothic"/>
                <a:cs typeface="Century Gothic"/>
              </a:rPr>
              <a:t>nearby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facilities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browser </a:t>
            </a:r>
            <a:r>
              <a:rPr dirty="0" sz="2000" spc="85">
                <a:latin typeface="Century Gothic"/>
                <a:cs typeface="Century Gothic"/>
              </a:rPr>
              <a:t>GPS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5">
                <a:latin typeface="Century Gothic"/>
                <a:cs typeface="Century Gothic"/>
              </a:rPr>
              <a:t>coordinates.Damage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30">
                <a:latin typeface="Century Gothic"/>
                <a:cs typeface="Century Gothic"/>
              </a:rPr>
              <a:t>Image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45">
                <a:latin typeface="Century Gothic"/>
                <a:cs typeface="Century Gothic"/>
              </a:rPr>
              <a:t>Uploads:</a:t>
            </a:r>
            <a:r>
              <a:rPr dirty="0" sz="2000" spc="30">
                <a:latin typeface="Century Gothic"/>
                <a:cs typeface="Century Gothic"/>
              </a:rPr>
              <a:t> </a:t>
            </a:r>
            <a:r>
              <a:rPr dirty="0" sz="2000" spc="-55">
                <a:latin typeface="Century Gothic"/>
                <a:cs typeface="Century Gothic"/>
              </a:rPr>
              <a:t>Integrating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14">
                <a:latin typeface="Century Gothic"/>
                <a:cs typeface="Century Gothic"/>
              </a:rPr>
              <a:t>cloud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35">
                <a:latin typeface="Century Gothic"/>
                <a:cs typeface="Century Gothic"/>
              </a:rPr>
              <a:t>storage</a:t>
            </a:r>
            <a:r>
              <a:rPr dirty="0" sz="2000" spc="-85">
                <a:latin typeface="Century Gothic"/>
                <a:cs typeface="Century Gothic"/>
              </a:rPr>
              <a:t> </a:t>
            </a:r>
            <a:r>
              <a:rPr dirty="0" sz="2000" spc="-65">
                <a:latin typeface="Century Gothic"/>
                <a:cs typeface="Century Gothic"/>
              </a:rPr>
              <a:t>(Cloudinary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/ </a:t>
            </a:r>
            <a:r>
              <a:rPr dirty="0" sz="2000" spc="75">
                <a:latin typeface="Century Gothic"/>
                <a:cs typeface="Century Gothic"/>
              </a:rPr>
              <a:t>AWS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120">
                <a:latin typeface="Century Gothic"/>
                <a:cs typeface="Century Gothic"/>
              </a:rPr>
              <a:t>S3)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10">
                <a:latin typeface="Century Gothic"/>
                <a:cs typeface="Century Gothic"/>
              </a:rPr>
              <a:t>via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Multer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 spc="75">
                <a:latin typeface="Century Gothic"/>
                <a:cs typeface="Century Gothic"/>
              </a:rPr>
              <a:t>so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citizens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75">
                <a:latin typeface="Century Gothic"/>
                <a:cs typeface="Century Gothic"/>
              </a:rPr>
              <a:t>can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35">
                <a:latin typeface="Century Gothic"/>
                <a:cs typeface="Century Gothic"/>
              </a:rPr>
              <a:t>upload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10">
                <a:latin typeface="Century Gothic"/>
                <a:cs typeface="Century Gothic"/>
              </a:rPr>
              <a:t>photo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proof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maintenance </a:t>
            </a:r>
            <a:r>
              <a:rPr dirty="0" sz="2000" spc="-35">
                <a:latin typeface="Century Gothic"/>
                <a:cs typeface="Century Gothic"/>
              </a:rPr>
              <a:t>issues.Automated</a:t>
            </a:r>
            <a:r>
              <a:rPr dirty="0" sz="2000" spc="-105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Rating</a:t>
            </a:r>
            <a:r>
              <a:rPr dirty="0" sz="2000" spc="-9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Engines:</a:t>
            </a:r>
            <a:r>
              <a:rPr dirty="0" sz="2000" spc="-85">
                <a:latin typeface="Century Gothic"/>
                <a:cs typeface="Century Gothic"/>
              </a:rPr>
              <a:t> </a:t>
            </a:r>
            <a:r>
              <a:rPr dirty="0" sz="2000" spc="-35">
                <a:latin typeface="Century Gothic"/>
                <a:cs typeface="Century Gothic"/>
              </a:rPr>
              <a:t>Running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MongoDB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5">
                <a:latin typeface="Century Gothic"/>
                <a:cs typeface="Century Gothic"/>
              </a:rPr>
              <a:t>aggregation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pipelines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to </a:t>
            </a:r>
            <a:r>
              <a:rPr dirty="0" sz="2000" spc="-100">
                <a:latin typeface="Century Gothic"/>
                <a:cs typeface="Century Gothic"/>
              </a:rPr>
              <a:t>automatically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-135">
                <a:latin typeface="Century Gothic"/>
                <a:cs typeface="Century Gothic"/>
              </a:rPr>
              <a:t>compute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rolling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-140">
                <a:latin typeface="Century Gothic"/>
                <a:cs typeface="Century Gothic"/>
              </a:rPr>
              <a:t>average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facility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scores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 spc="-120">
                <a:latin typeface="Century Gothic"/>
                <a:cs typeface="Century Gothic"/>
              </a:rPr>
              <a:t>upon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each </a:t>
            </a:r>
            <a:r>
              <a:rPr dirty="0" sz="2000" spc="-25">
                <a:latin typeface="Century Gothic"/>
                <a:cs typeface="Century Gothic"/>
              </a:rPr>
              <a:t>submission.Conclusion: </a:t>
            </a:r>
            <a:r>
              <a:rPr dirty="0" sz="2000" spc="75">
                <a:latin typeface="Century Gothic"/>
                <a:cs typeface="Century Gothic"/>
              </a:rPr>
              <a:t>The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project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40">
                <a:latin typeface="Century Gothic"/>
                <a:cs typeface="Century Gothic"/>
              </a:rPr>
              <a:t>demonstrates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4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30">
                <a:latin typeface="Century Gothic"/>
                <a:cs typeface="Century Gothic"/>
              </a:rPr>
              <a:t>working,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full-stack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 spc="70">
                <a:latin typeface="Century Gothic"/>
                <a:cs typeface="Century Gothic"/>
              </a:rPr>
              <a:t>MERN </a:t>
            </a:r>
            <a:r>
              <a:rPr dirty="0" sz="2000" spc="-100">
                <a:latin typeface="Century Gothic"/>
                <a:cs typeface="Century Gothic"/>
              </a:rPr>
              <a:t>application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60">
                <a:latin typeface="Century Gothic"/>
                <a:cs typeface="Century Gothic"/>
              </a:rPr>
              <a:t>delivering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95">
                <a:latin typeface="Century Gothic"/>
                <a:cs typeface="Century Gothic"/>
              </a:rPr>
              <a:t>practical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80">
                <a:latin typeface="Century Gothic"/>
                <a:cs typeface="Century Gothic"/>
              </a:rPr>
              <a:t>civic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utility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 </a:t>
            </a:r>
            <a:r>
              <a:rPr dirty="0" sz="2000" spc="-20">
                <a:latin typeface="Century Gothic"/>
                <a:cs typeface="Century Gothic"/>
              </a:rPr>
              <a:t>secure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75">
                <a:latin typeface="Century Gothic"/>
                <a:cs typeface="Century Gothic"/>
              </a:rPr>
              <a:t>data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flow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85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20">
                <a:latin typeface="Century Gothic"/>
                <a:cs typeface="Century Gothic"/>
              </a:rPr>
              <a:t>complete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CRUD </a:t>
            </a:r>
            <a:r>
              <a:rPr dirty="0" sz="2000" spc="-10">
                <a:latin typeface="Century Gothic"/>
                <a:cs typeface="Century Gothic"/>
              </a:rPr>
              <a:t>functionality.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12945" y="2711068"/>
            <a:ext cx="306451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300"/>
              <a:t>THANK</a:t>
            </a:r>
            <a:r>
              <a:rPr dirty="0" sz="3600" spc="-130"/>
              <a:t> </a:t>
            </a:r>
            <a:r>
              <a:rPr dirty="0" sz="3600" spc="140"/>
              <a:t>YOU</a:t>
            </a:r>
            <a:r>
              <a:rPr dirty="0" sz="3600" spc="-90"/>
              <a:t> </a:t>
            </a:r>
            <a:r>
              <a:rPr dirty="0" sz="3600" spc="-50"/>
              <a:t>!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2026-10-10T14:28:09Z</dcterms:created>
  <dcterms:modified xsi:type="dcterms:W3CDTF">2026-10-10T14:28:09Z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2026-10-09T00:00:00Z</vt:filetime>
  </property>
  <property fmtid="{D5CDD505-2E9C-101B-9397-08002B2CF9AE}" pid="4" name="LastSaved">
    <vt:filetime>2026-10-10T00:00:00Z</vt:filetime>
  </property>
</Properties>
</file>